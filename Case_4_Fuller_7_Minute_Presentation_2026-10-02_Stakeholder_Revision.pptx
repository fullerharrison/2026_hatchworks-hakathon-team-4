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COVER. Time budget: 10 seconds. Presentation window: 0:00 to 0:10. Presenter: Carlos Diego Gomes.</a:t>
            </a:r>
          </a:p>
          <a:p>
            <a:endParaRPr/>
          </a:p>
          <a:p>
            <a:r>
              <a:t>Total: 10 + 50 + 120 + 180 + 60 = 420 seconds = 7 minutes.</a:t>
            </a:r>
          </a:p>
          <a:p>
            <a:endParaRPr/>
          </a:p>
          <a:p>
            <a:r>
              <a:t>Spoken script / demo cues:</a:t>
            </a:r>
          </a:p>
          <a:p>
            <a:r>
              <a:t>Welcome. We are presenting the UC4 Breeder Assistant, our R&amp;D Data Source Unification prototype. We will show the breeder's need, the product and a live decision workflow.</a:t>
            </a:r>
          </a:p>
          <a:p>
            <a:endParaRPr/>
          </a:p>
          <a:p>
            <a:r>
              <a:t>Presenter cues:</a:t>
            </a:r>
          </a:p>
          <a:p>
            <a:r>
              <a:t>Minimal introduction. Move to WHY at 0:10. The product demonstrated is Harrison Fuller's selected implementation. Harrison keeps the deck and running application on one shared screen; presenters speak without switching screen shares.</a:t>
            </a:r>
          </a:p>
          <a:p>
            <a:endParaRPr/>
          </a:p>
          <a:p>
            <a:r>
              <a:t>Sources and provenance:</a:t>
            </a:r>
          </a:p>
          <a:p>
            <a:r>
              <a:t>C:/Users/s1236601/.codex/attachments/f3b32524-d7a1-48a1-93f4-1dc1bae4f563/Texto colado.txt, required structure and selected implementation.</a:t>
            </a:r>
          </a:p>
          <a:p>
            <a:r>
              <a:t>C:\Users\s1236601\OneDrive - Syngenta\Desktop\Hatchworks Hackathon\03. Use Case 4\08. Prototype - Fuller Version\README.md, product scope and current candidate application.</a:t>
            </a:r>
          </a:p>
          <a:p>
            <a:r>
              <a:t>C:\Users\s1236601\OneDrive - Syngenta\Desktop\Hatchworks Hackathon\03. Use Case 4\07. Presentation\output\Case_4_Fuller_7_Minute_Presentation_2026-10-02_Why_First.pptx, retained team names and visual style.</a:t>
            </a:r>
          </a:p>
          <a:p>
            <a:r>
              <a:t>C:/Users/s1236601/Downloads/Hatchworks Hackathon - meeting 2.docx, 36:55 to 37:28, single-computer screen-sharing agreement.</a:t>
            </a:r>
          </a:p>
          <a:p>
            <a:endParaRPr/>
          </a:p>
          <a:p>
            <a:r>
              <a:t>Prepared October 2, 2026. Synthetic source season and data as-of date: unknown. Business time savings and productivity benefits remain unmeasured.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WHY: THE BREEDER'S NEED. Time budget: 50 seconds. Presentation window: 0:10 to 1:00. Presenter: Carlos Diego Gomes.</a:t>
            </a:r>
          </a:p>
          <a:p>
            <a:endParaRPr/>
          </a:p>
          <a:p>
            <a:r>
              <a:t>Total: 10 + 50 + 120 + 180 + 60 = 420 seconds = 7 minutes.</a:t>
            </a:r>
          </a:p>
          <a:p>
            <a:endParaRPr/>
          </a:p>
          <a:p>
            <a:r>
              <a:t>Spoken script / demo cues:</a:t>
            </a:r>
          </a:p>
          <a:p>
            <a:r>
              <a:t>A breeder's advancement decision depends on evidence from field observations, operations, laboratory results and genomics. Those sources sit in separate files. The breeder needs to connect them and understand what they say about each candidate. Which candidates need attention? Why did a candidate receive its assessment? Which criteria failed, and where is evidence incomplete? What source evidence supports that assessment? Finally, can I make my own decision and revisit its rationale later? This product brings those questions into one candidate-review workflow. The intended value is a reasoned, data-driven decision, with the breeder retaining control. Matheus will explain how the product supports that review.</a:t>
            </a:r>
          </a:p>
          <a:p>
            <a:endParaRPr/>
          </a:p>
          <a:p>
            <a:r>
              <a:t>Presenter cues:</a:t>
            </a:r>
          </a:p>
          <a:p>
            <a:r>
              <a:t>Allow 50 seconds. Explain the breeder's need and questions. Hand off to Matheus at 1:00. Keep development history out of the narrative.</a:t>
            </a:r>
          </a:p>
          <a:p>
            <a:endParaRPr/>
          </a:p>
          <a:p>
            <a:r>
              <a:t>Sources and provenance:</a:t>
            </a:r>
          </a:p>
          <a:p>
            <a:r>
              <a:t>C:/Users/s1236601/.codex/attachments/f3b32524-d7a1-48a1-93f4-1dc1bae4f563/Texto colado.txt, WHY requirements and breeder questions.</a:t>
            </a:r>
          </a:p>
          <a:p>
            <a:r>
              <a:t>C:\Users\s1236601\OneDrive - Syngenta\Desktop\Hatchworks Hackathon\03. Use Case 4\08. Prototype - Fuller Version\README.md, candidate-review scope.</a:t>
            </a:r>
          </a:p>
          <a:p>
            <a:r>
              <a:t>C:\Users\s1236601\OneDrive - Syngenta\Desktop\Hatchworks Hackathon\03. Use Case 4\08. Prototype - Fuller Version\app\ARCHITECTURE.md, evidence, provisional policy and durable decisions.</a:t>
            </a:r>
          </a:p>
          <a:p>
            <a:r>
              <a:t>C:/Users/s1236601/Downloads/Hatchworks Hackathon - meeting 2.docx, 19:47 to 20:32, technical presenter handoff.</a:t>
            </a:r>
          </a:p>
          <a:p>
            <a:endParaRPr/>
          </a:p>
          <a:p>
            <a:r>
              <a:t>Prepared October 2, 2026. Synthetic source season and data as-of date: unknown. Business time savings and productivity benefits remain unmeasured.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HOW THE PRODUCT WORKS. Time budget: 120 seconds. Presentation window: 1:00 to 3:00. Presenter: Matheus Carvalho.</a:t>
            </a:r>
          </a:p>
          <a:p>
            <a:endParaRPr/>
          </a:p>
          <a:p>
            <a:r>
              <a:t>Total: 10 + 50 + 120 + 180 + 60 = 420 seconds = 7 minutes.</a:t>
            </a:r>
          </a:p>
          <a:p>
            <a:endParaRPr/>
          </a:p>
          <a:p>
            <a:r>
              <a:t>Spoken script / demo cues:</a:t>
            </a:r>
          </a:p>
          <a:p>
            <a:r>
              <a:t>The product starts with eight source CSVs containing field, operations, laboratory and genomic evidence. Python and pandas connect the records, reconstruct candidate evidence and apply deterministic, versioned, provisional scoring. Every assessment exposes criteria and supporting source references. Missing evidence stays visible.</a:t>
            </a:r>
          </a:p>
          <a:p>
            <a:endParaRPr/>
          </a:p>
          <a:p>
            <a:r>
              <a:t>For this demonstration, the SME-supplied synthetic data contains 150 candidates. As inspected on October 2, 2026, the baseline reproduces 32 GREEN + 53 AMBER + 65 RED = 150 supplied candidate recommendations. That establishes consistency with the supplied outputs. Biological validation and SME approval of the scoring policy remain pending.</a:t>
            </a:r>
          </a:p>
          <a:p>
            <a:endParaRPr/>
          </a:p>
          <a:p>
            <a:r>
              <a:t>FastAPI serves the browser review workflow. The breeder selects a candidate, inspects its criteria and opens source evidence. The system assessment, AI explanation and breeder decision remain separate.</a:t>
            </a:r>
          </a:p>
          <a:p>
            <a:endParaRPr/>
          </a:p>
          <a:p>
            <a:r>
              <a:t>Read-only MCP tools retrieve evidence for the Portkey-backed LLM. Ask produces an explanation with citations that the breeder can open. Natural-language filtering is a second AI workflow: it returns an editable preview, and the user explicitly applies it. Neither AI workflow records a breeder decision.</a:t>
            </a:r>
          </a:p>
          <a:p>
            <a:endParaRPr/>
          </a:p>
          <a:p>
            <a:r>
              <a:t>The breeder chooses an action and rationale, reviews the summary and confirms the decision. SQLite stores decision history with the recommendation captured at recording. Source snapshots preserve the original evidence so that the breeder can reopen the rationale and its context later. An override records a different breeder action while retaining the underlying system assessment.</a:t>
            </a:r>
          </a:p>
          <a:p>
            <a:endParaRPr/>
          </a:p>
          <a:p>
            <a:r>
              <a:t>This is a local prototype. Hosted multi-user operation, production identity and permissions are scaling requirements. Model availability depends on the configured gateway route. Harrison will now demonstrate the complete review and saved decision.</a:t>
            </a:r>
          </a:p>
          <a:p>
            <a:endParaRPr/>
          </a:p>
          <a:p>
            <a:r>
              <a:t>Presenter cues:</a:t>
            </a:r>
          </a:p>
          <a:p>
            <a:r>
              <a:t>Allow 120 seconds. Follow the existing diagram from source CSVs to provisional scoring and candidate review, then explain AI assistance and preserved history. Explain product behavior and breeder control. Hand off to Harrison at 3:00.</a:t>
            </a:r>
          </a:p>
          <a:p>
            <a:endParaRPr/>
          </a:p>
          <a:p>
            <a:r>
              <a:t>Sources and provenance:</a:t>
            </a:r>
          </a:p>
          <a:p>
            <a:r>
              <a:t>C:\Users\s1236601\OneDrive - Syngenta\Desktop\Hatchworks Hackathon\03. Use Case 4\08. Prototype - Fuller Version\app\ARCHITECTURE.md, components, evidence and provisional policy, durable decisions and AI behavior.</a:t>
            </a:r>
          </a:p>
          <a:p>
            <a:r>
              <a:t>C:\Users\s1236601\OneDrive - Syngenta\Desktop\Hatchworks Hackathon\03. Use Case 4\08. Prototype - Fuller Version\app\README.md, current app, Ask and typed filters.</a:t>
            </a:r>
          </a:p>
          <a:p>
            <a:r>
              <a:t>C:\Users\s1236601\OneDrive - Syngenta\Desktop\Hatchworks Hackathon\03. Use Case 4\08. Prototype - Fuller Version\app\RELEASE_NOTES.md, current candidate baseline, model availability and limits.</a:t>
            </a:r>
          </a:p>
          <a:p>
            <a:r>
              <a:t>C:/Users/s1236601/.codex/attachments/f3b32524-d7a1-48a1-93f4-1dc1bae4f563/Texto colado.txt, Harrison's factual boundaries and two-minute architecture timing.</a:t>
            </a:r>
          </a:p>
          <a:p>
            <a:endParaRPr/>
          </a:p>
          <a:p>
            <a:r>
              <a:t>Prepared October 2, 2026. Synthetic source season and data as-of date: unknown. Business time savings and productivity benefits remain unmeasured.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DEMO. Time budget: 180 seconds. Presentation window: 3:00 to 6:00. Presenter: Harrison Fuller.</a:t>
            </a:r>
          </a:p>
          <a:p>
            <a:endParaRPr/>
          </a:p>
          <a:p>
            <a:r>
              <a:t>Total: 10 + 50 + 120 + 180 + 60 = 420 seconds = 7 minutes.</a:t>
            </a:r>
          </a:p>
          <a:p>
            <a:endParaRPr/>
          </a:p>
          <a:p>
            <a:r>
              <a:t>Spoken script / demo cues:</a:t>
            </a:r>
          </a:p>
          <a:p>
            <a:r>
              <a:t>3:00 to 3:30, select and inspect, 30 seconds. In the candidate dashboard, select an AMBER candidate. SYN-MZ-00001 is the documented practice candidate; confirm its current assessment before presenting. Open Evidence, inspect criteria and point to any failed or incomplete evidence. Open a source row. Use the values displayed by the running application.</a:t>
            </a:r>
          </a:p>
          <a:p>
            <a:endParaRPr/>
          </a:p>
          <a:p>
            <a:r>
              <a:t>3:30 to 4:05, live explanation, 35 seconds. Open Ask and enter the documented prompt: Why is this candidate AMBER? Cite the evidence. Submit to the live Portkey-backed LLM. Read the cited explanation and open one citation to show its supporting evidence. Explain that the AI is explaining the provisional assessment.</a:t>
            </a:r>
          </a:p>
          <a:p>
            <a:endParaRPr/>
          </a:p>
          <a:p>
            <a:r>
              <a:t>4:05 to 4:55, breeder review and HOLD, 50 seconds. Open Decision. Enter the presenter's own name or initials, select HOLD and enter a clearly hypothetical rationale. The documented practice example is: Hold pending another usable trial and review of moisture. Use it only if it fits the evidence currently shown. Choose Review decision, read the proposed action and rationale, then choose Record decision once. Show the saved receipt. Neither Ask nor the filter interpreter has recorded this decision; the breeder has explicitly confirmed it.</a:t>
            </a:r>
          </a:p>
          <a:p>
            <a:endParaRPr/>
          </a:p>
          <a:p>
            <a:r>
              <a:t>4:55 to 5:35, revisit the decision, 40 seconds. Open History and reopen the saved decision. Point to HOLD, the rationale and the captured system recommendation. Open its original evidence. Show that the decision record preserves the recommendation and source context available when it was recorded. This is the demonstrated impact: a saved choice with an inspectable rationale and evidence.</a:t>
            </a:r>
          </a:p>
          <a:p>
            <a:endParaRPr/>
          </a:p>
          <a:p>
            <a:r>
              <a:t>5:35 to 6:00, optional hypothetical override, 25 seconds. If practical, select a candidate currently assessed GREEN. SYN-MZ-00004 is a source-baseline example; confirm the current color first. Illustrate a breeder choosing HOLD pending an additional review. If saving the hypothetical choice, review and confirm it through the same manual workflow. Show that the recorded breeder action is HOLD while the system assessment remains GREEN. The source evidence and provisional assessment are unchanged. If the time is better used on the first decision's history, explain this distinction there. Finish: Carlos will close with value and the path to a pilot.</a:t>
            </a:r>
          </a:p>
          <a:p>
            <a:endParaRPr/>
          </a:p>
          <a:p>
            <a:r>
              <a:t>Presenter cues:</a:t>
            </a:r>
          </a:p>
          <a:p>
            <a:r>
              <a:t>Demo budget: 30 + 35 + 50 + 40 + 25 = 180 seconds. Use Harrison's working Fuller application or the reviewed runnable package, with synthetic data and a separate demo history. Keep the deck and app on Harrison's shared screen. Have the live model route configured before the presentation. If Ask fails or does not finish within its slot, state that the live explanation is unavailable and continue with manual evidence and decision history. Do not present a prior answer as a fresh live response. Do not retry repeatedly or extend the seven-minute slot. A previously captured example may be shown only if explicitly identified as recorded. All actions in the demo are hypothetical. Never imply measured breeder time savings.</a:t>
            </a:r>
          </a:p>
          <a:p>
            <a:endParaRPr/>
          </a:p>
          <a:p>
            <a:r>
              <a:t>Sources and provenance:</a:t>
            </a:r>
          </a:p>
          <a:p>
            <a:r>
              <a:t>C:\Users\s1236601\OneDrive - Syngenta\Desktop\Hatchworks Hackathon\03. Use Case 4\08. Prototype - Fuller Version\app\HUMAN_REVIEW.md, candidate SYN-MZ-00001, exact Ask prompt and practice rationale, Review decision / Record decision, history and original evidence.</a:t>
            </a:r>
          </a:p>
          <a:p>
            <a:r>
              <a:t>C:\Users\s1236601\OneDrive - Syngenta\Desktop\Hatchworks Hackathon\03. Use Case 4\08. Prototype - Fuller Version\app\ARCHITECTURE.md, saved recommendation/evidence context, separate system assessments and breeder decisions, read-only AI contracts.</a:t>
            </a:r>
          </a:p>
          <a:p>
            <a:r>
              <a:t>C:\Users\s1236601\OneDrive - Syngenta\Desktop\Hatchworks Hackathon\03. Use Case 4\05. Data\candidate_recommendations_synthetic.csv, source-baseline examples SYN-MZ-00001 and SYN-MZ-00004; runtime state must be checked.</a:t>
            </a:r>
          </a:p>
          <a:p>
            <a:r>
              <a:t>C:\Users\s1236601\OneDrive - Syngenta\Desktop\Hatchworks Hackathon\03. Use Case 4\08. Prototype - Fuller Version\app\RELEASE_NOTES.md, Portkey availability and manual workflow limits.</a:t>
            </a:r>
          </a:p>
          <a:p>
            <a:r>
              <a:t>C:/Users/s1236601/.codex/attachments/f3b32524-d7a1-48a1-93f4-1dc1bae4f563/Texto colado.txt, required demo order, optional override and visible-slide composition.</a:t>
            </a:r>
          </a:p>
          <a:p>
            <a:r>
              <a:t>C:/Users/s1236601/Downloads/Hatchworks Hackathon - meeting 2.docx, 36:55 to 37:28, one shared computer.</a:t>
            </a:r>
          </a:p>
          <a:p>
            <a:endParaRPr/>
          </a:p>
          <a:p>
            <a:r>
              <a:t>Prepared October 2, 2026. Synthetic source season and data as-of date: unknown. Business time savings and productivity benefits remain unmeasured.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VALUE AND SCALABILITY. Time budget: 60 seconds. Presentation window: 6:00 to 7:00. Presenter: Carlos Diego Gomes.</a:t>
            </a:r>
          </a:p>
          <a:p>
            <a:endParaRPr/>
          </a:p>
          <a:p>
            <a:r>
              <a:t>Total: 10 + 50 + 120 + 180 + 60 = 420 seconds = 7 minutes.</a:t>
            </a:r>
          </a:p>
          <a:p>
            <a:endParaRPr/>
          </a:p>
          <a:p>
            <a:r>
              <a:t>Spoken script / demo cues:</a:t>
            </a:r>
          </a:p>
          <a:p>
            <a:r>
              <a:t>The intended value is less cross-file lookup, clearer decision rationale and breeder-controlled, data-driven decisions. Today, the demonstration shows a saved choice with its rationale and evidence. Breeder time savings and productivity improvements remain unmeasured.</a:t>
            </a:r>
          </a:p>
          <a:p>
            <a:endParaRPr/>
          </a:p>
          <a:p>
            <a:r>
              <a:t>Syngenta's next step is a breeder-reviewed pilot using authorized crop data and SME-approved scoring. The pilot would compare the same review tasks in the manual and assisted workflows, measuring review time, correctness, rationale quality and evidence traceability.</a:t>
            </a:r>
          </a:p>
          <a:p>
            <a:endParaRPr/>
          </a:p>
          <a:p>
            <a:r>
              <a:t>The reusable pattern combines deterministic assessments, cited AI explanations and explicit human decisions. Scaling requires validated policies, identity and permissions, data integration and reliable model access. This remains a local prototype, with biological validation pending. The next step is to validate the policy and measure value with breeders. Thank you.</a:t>
            </a:r>
          </a:p>
          <a:p>
            <a:endParaRPr/>
          </a:p>
          <a:p>
            <a:r>
              <a:t>Presenter cues:</a:t>
            </a:r>
          </a:p>
          <a:p>
            <a:r>
              <a:t>Allow 60 seconds. Keep expected benefits separate from measured results. The pilot measurement method and scaling work are proposed next steps. Finish at 7:00; questions follow outside the presentation slot.</a:t>
            </a:r>
          </a:p>
          <a:p>
            <a:endParaRPr/>
          </a:p>
          <a:p>
            <a:r>
              <a:t>Sources and provenance:</a:t>
            </a:r>
          </a:p>
          <a:p>
            <a:r>
              <a:t>C:/Users/s1236601/.codex/attachments/f3b32524-d7a1-48a1-93f4-1dc1bae4f563/Texto colado.txt, value, pilot, reuse, scaling and removal of savings assumptions.</a:t>
            </a:r>
          </a:p>
          <a:p>
            <a:r>
              <a:t>C:\Users\s1236601\OneDrive - Syngenta\Desktop\Hatchworks Hackathon\03. Use Case 4\08. Prototype - Fuller Version\README.md, local prototype and provisional synthetic-data policy.</a:t>
            </a:r>
          </a:p>
          <a:p>
            <a:r>
              <a:t>C:\Users\s1236601\OneDrive - Syngenta\Desktop\Hatchworks Hackathon\03. Use Case 4\08. Prototype - Fuller Version\app\ARCHITECTURE.md, deterministic assessment, grounded AI and durable human decisions.</a:t>
            </a:r>
          </a:p>
          <a:p>
            <a:r>
              <a:t>C:\Users\s1236601\OneDrive - Syngenta\Desktop\Hatchworks Hackathon\03. Use Case 4\08. Prototype - Fuller Version\app\RELEASE_NOTES.md, production identity, biological validation and model-service limits.</a:t>
            </a:r>
          </a:p>
          <a:p>
            <a:endParaRPr/>
          </a:p>
          <a:p>
            <a:r>
              <a:t>Prepared October 2, 2026. Synthetic source season and data as-of date: unknown. Business time savings and productivity benefits remain unmeasured.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772A944-C22D-4524-9AD6-25431C79E94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38495597-C62C-4407-ACC6-1326A94EDA3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0104799-26DB-42BD-95AC-195FC21028B6}"/>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A1C3F22-4E20-4715-8AD0-3BFCE18B338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4DA4F354-1293-4C5F-82D3-D6514BB0AB0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6DE6F7B-921D-46FF-AEAC-F3F866454CE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22D19A19-9237-4257-B1FA-04078914ED6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7F0925A2-50D2-4094-B47E-656AB11DDC5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656D870-0CD5-405D-BE68-CA6A87E741B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12C4BF1E-65EA-4191-B75D-5BC82489831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1F1A"/>
        </a:solidFill>
        <a:effectLst/>
      </p:bgPr>
    </p:bg>
    <p:spTree>
      <p:nvGrpSpPr>
        <p:cNvPr id="1" name=""/>
        <p:cNvGrpSpPr/>
        <p:nvPr/>
      </p:nvGrpSpPr>
      <p:grpSpPr>
        <a:xfrm>
          <a:off x="0" y="0"/>
          <a:ext cx="0" cy="0"/>
          <a:chOff x="0" y="0"/>
          <a:chExt cx="0" cy="0"/>
        </a:xfrm>
      </p:grpSpPr>
      <p:sp>
        <p:nvSpPr>
          <p:cNvPr id="6" name="stakeholder-copy">
            <a:extLst>
              <a:ext uri="{FF2B5EF4-FFF2-40B4-BE49-F238E27FC236}">
                <a16:creationId xmlns:a16="http://schemas.microsoft.com/office/drawing/2014/main" id="{6178157D-9CCF-43A4-878F-B507D9E5C2A6}"/>
              </a:ext>
            </a:extLst>
          </p:cNvPr>
          <p:cNvSpPr>
            <a:spLocks noGrp="1"/>
          </p:cNvSpPr>
          <p:nvPr/>
        </p:nvSpPr>
        <p:spPr>
          <a:xfrm>
            <a:off x="704850" y="514350"/>
            <a:ext cx="10782300" cy="400050"/>
          </a:xfrm>
          <a:prstGeom prst="rect">
            <a:avLst/>
          </a:prstGeom>
          <a:noFill/>
          <a:ln w="0">
            <a:noFill/>
          </a:ln>
        </p:spPr>
        <p:txBody>
          <a:bodyPr wrap="square" lIns="0" tIns="0" rIns="0" bIns="0" anchor="t">
            <a:noAutofit/>
          </a:bodyPr>
          <a:lstStyle>
            <a:defPPr algn="l">
              <a:defRPr sz="1875" b="0">
                <a:solidFill>
                  <a:srgbClr val="E9E5DA"/>
                </a:solidFill>
                <a:latin typeface="Consolas"/>
                <a:ea typeface="Consolas"/>
                <a:cs typeface="Consolas"/>
              </a:defRPr>
            </a:defPPr>
          </a:lstStyle>
          <a:p>
            <a:pPr algn="l">
              <a:defRPr sz="1875" b="0">
                <a:solidFill>
                  <a:srgbClr val="E9E5DA"/>
                </a:solidFill>
                <a:latin typeface="Consolas"/>
                <a:ea typeface="Consolas"/>
                <a:cs typeface="Consolas"/>
              </a:defRPr>
            </a:pPr>
            <a:r>
              <a:rPr sz="1875" b="0">
                <a:solidFill>
                  <a:srgbClr val="E9E5DA"/>
                </a:solidFill>
                <a:latin typeface="Consolas"/>
                <a:ea typeface="Consolas"/>
                <a:cs typeface="Consolas"/>
              </a:rPr>
              <a:t>Syngenta · HatchWorks Hackathon</a:t>
            </a:r>
          </a:p>
        </p:txBody>
      </p:sp>
      <p:sp>
        <p:nvSpPr>
          <p:cNvPr id="2" name="cover-title">
            <a:extLst>
              <a:ext uri="{FF2B5EF4-FFF2-40B4-BE49-F238E27FC236}">
                <a16:creationId xmlns:a16="http://schemas.microsoft.com/office/drawing/2014/main" id="{8E1A3697-D0E9-4FDC-90B1-6DCBEE8DD7F3}"/>
              </a:ext>
            </a:extLst>
          </p:cNvPr>
          <p:cNvSpPr>
            <a:spLocks noGrp="1"/>
          </p:cNvSpPr>
          <p:nvPr/>
        </p:nvSpPr>
        <p:spPr>
          <a:xfrm>
            <a:off x="704850" y="1628775"/>
            <a:ext cx="10782300" cy="1076325"/>
          </a:xfrm>
          <a:prstGeom prst="rect">
            <a:avLst/>
          </a:prstGeom>
          <a:noFill/>
          <a:ln w="0">
            <a:noFill/>
          </a:ln>
        </p:spPr>
        <p:txBody>
          <a:bodyPr wrap="square" lIns="0" tIns="0" rIns="0" bIns="0" anchor="t">
            <a:noAutofit/>
          </a:bodyPr>
          <a:lstStyle>
            <a:defPPr algn="l">
              <a:defRPr sz="5250" b="1">
                <a:solidFill>
                  <a:srgbClr val="E9E5DA"/>
                </a:solidFill>
                <a:latin typeface="Cambria"/>
                <a:ea typeface="Cambria"/>
                <a:cs typeface="Cambria"/>
              </a:defRPr>
            </a:defPPr>
          </a:lstStyle>
          <a:p>
            <a:pPr algn="l">
              <a:defRPr sz="5250" b="1">
                <a:solidFill>
                  <a:srgbClr val="E9E5DA"/>
                </a:solidFill>
                <a:latin typeface="Cambria"/>
                <a:ea typeface="Cambria"/>
                <a:cs typeface="Cambria"/>
              </a:defRPr>
            </a:pPr>
            <a:r>
              <a:rPr sz="5250" b="1">
                <a:solidFill>
                  <a:srgbClr val="E9E5DA"/>
                </a:solidFill>
                <a:latin typeface="Cambria"/>
                <a:ea typeface="Cambria"/>
                <a:cs typeface="Cambria"/>
              </a:rPr>
              <a:t>UC4 Breeder Assistant</a:t>
            </a:r>
          </a:p>
        </p:txBody>
      </p:sp>
      <p:sp>
        <p:nvSpPr>
          <p:cNvPr id="3" name="stakeholder-copy">
            <a:extLst>
              <a:ext uri="{FF2B5EF4-FFF2-40B4-BE49-F238E27FC236}">
                <a16:creationId xmlns:a16="http://schemas.microsoft.com/office/drawing/2014/main" id="{7B73D579-B6D4-4FA1-AF5C-E41F7D0C99FC}"/>
              </a:ext>
            </a:extLst>
          </p:cNvPr>
          <p:cNvSpPr>
            <a:spLocks noGrp="1"/>
          </p:cNvSpPr>
          <p:nvPr/>
        </p:nvSpPr>
        <p:spPr>
          <a:xfrm>
            <a:off x="742950" y="2905125"/>
            <a:ext cx="10744200" cy="571500"/>
          </a:xfrm>
          <a:prstGeom prst="rect">
            <a:avLst/>
          </a:prstGeom>
          <a:noFill/>
          <a:ln w="0">
            <a:noFill/>
          </a:ln>
        </p:spPr>
        <p:txBody>
          <a:bodyPr wrap="square" lIns="0" tIns="0" rIns="0" bIns="0" anchor="t">
            <a:noAutofit/>
          </a:bodyPr>
          <a:lstStyle>
            <a:defPPr algn="l">
              <a:defRPr sz="2700" b="0">
                <a:solidFill>
                  <a:srgbClr val="E9E5DA"/>
                </a:solidFill>
                <a:latin typeface="Cambria"/>
                <a:ea typeface="Cambria"/>
                <a:cs typeface="Cambria"/>
              </a:defRPr>
            </a:defPPr>
          </a:lstStyle>
          <a:p>
            <a:pPr algn="l">
              <a:defRPr sz="2700" b="0">
                <a:solidFill>
                  <a:srgbClr val="E9E5DA"/>
                </a:solidFill>
                <a:latin typeface="Cambria"/>
                <a:ea typeface="Cambria"/>
                <a:cs typeface="Cambria"/>
              </a:defRPr>
            </a:pPr>
            <a:r>
              <a:rPr sz="2700" b="0">
                <a:solidFill>
                  <a:srgbClr val="E9E5DA"/>
                </a:solidFill>
                <a:latin typeface="Cambria"/>
                <a:ea typeface="Cambria"/>
                <a:cs typeface="Cambria"/>
              </a:rPr>
              <a:t>R&amp;D</a:t>
            </a:r>
          </a:p>
        </p:txBody>
      </p:sp>
      <p:sp>
        <p:nvSpPr>
          <p:cNvPr id="4" name="stakeholder-copy">
            <a:extLst>
              <a:ext uri="{FF2B5EF4-FFF2-40B4-BE49-F238E27FC236}">
                <a16:creationId xmlns:a16="http://schemas.microsoft.com/office/drawing/2014/main" id="{927F9B14-E7BB-43C7-B0F3-9FDBEF777256}"/>
              </a:ext>
            </a:extLst>
          </p:cNvPr>
          <p:cNvSpPr>
            <a:spLocks noGrp="1"/>
          </p:cNvSpPr>
          <p:nvPr/>
        </p:nvSpPr>
        <p:spPr>
          <a:xfrm>
            <a:off x="742950" y="5219700"/>
            <a:ext cx="10744200" cy="476250"/>
          </a:xfrm>
          <a:prstGeom prst="rect">
            <a:avLst/>
          </a:prstGeom>
          <a:noFill/>
          <a:ln w="0">
            <a:noFill/>
          </a:ln>
        </p:spPr>
        <p:txBody>
          <a:bodyPr wrap="square" lIns="0" tIns="0" rIns="0" bIns="0" anchor="t">
            <a:noAutofit/>
          </a:bodyPr>
          <a:lstStyle>
            <a:defPPr algn="l">
              <a:defRPr sz="1725" b="0">
                <a:solidFill>
                  <a:srgbClr val="E9E5DA"/>
                </a:solidFill>
                <a:latin typeface="Segoe UI"/>
                <a:ea typeface="Segoe UI"/>
                <a:cs typeface="Segoe UI"/>
              </a:defRPr>
            </a:defPPr>
          </a:lstStyle>
          <a:p>
            <a:pPr algn="l">
              <a:defRPr sz="1725" b="0">
                <a:solidFill>
                  <a:srgbClr val="E9E5DA"/>
                </a:solidFill>
                <a:latin typeface="Segoe UI"/>
                <a:ea typeface="Segoe UI"/>
                <a:cs typeface="Segoe UI"/>
              </a:defRPr>
            </a:pPr>
            <a:r>
              <a:rPr sz="1725" b="0">
                <a:solidFill>
                  <a:srgbClr val="E9E5DA"/>
                </a:solidFill>
                <a:latin typeface="Segoe UI"/>
                <a:ea typeface="Segoe UI"/>
                <a:cs typeface="Segoe UI"/>
              </a:rPr>
              <a:t>Carlos Diego Gomes · Harrison Fuller · Jim Shilo · Matheus Carvalho</a:t>
            </a:r>
          </a:p>
        </p:txBody>
      </p:sp>
      <p:sp>
        <p:nvSpPr>
          <p:cNvPr id="5" name="stakeholder-copy">
            <a:extLst>
              <a:ext uri="{FF2B5EF4-FFF2-40B4-BE49-F238E27FC236}">
                <a16:creationId xmlns:a16="http://schemas.microsoft.com/office/drawing/2014/main" id="{438A6CB6-C3B7-48D8-9D87-6559BA85819F}"/>
              </a:ext>
            </a:extLst>
          </p:cNvPr>
          <p:cNvSpPr>
            <a:spLocks noGrp="1"/>
          </p:cNvSpPr>
          <p:nvPr/>
        </p:nvSpPr>
        <p:spPr>
          <a:xfrm>
            <a:off x="742950" y="5829300"/>
            <a:ext cx="10744200" cy="342900"/>
          </a:xfrm>
          <a:prstGeom prst="rect">
            <a:avLst/>
          </a:prstGeom>
          <a:noFill/>
          <a:ln w="0">
            <a:noFill/>
          </a:ln>
        </p:spPr>
        <p:txBody>
          <a:bodyPr wrap="square" lIns="0" tIns="0" rIns="0" bIns="0" anchor="t">
            <a:noAutofit/>
          </a:bodyPr>
          <a:lstStyle>
            <a:defPPr algn="l">
              <a:defRPr sz="1650" b="0">
                <a:solidFill>
                  <a:srgbClr val="E9E5DA"/>
                </a:solidFill>
                <a:latin typeface="Consolas"/>
                <a:ea typeface="Consolas"/>
                <a:cs typeface="Consolas"/>
              </a:defRPr>
            </a:defPPr>
          </a:lstStyle>
          <a:p>
            <a:pPr algn="l">
              <a:defRPr sz="1650" b="0">
                <a:solidFill>
                  <a:srgbClr val="E9E5DA"/>
                </a:solidFill>
                <a:latin typeface="Consolas"/>
                <a:ea typeface="Consolas"/>
                <a:cs typeface="Consolas"/>
              </a:defRPr>
            </a:pPr>
            <a:r>
              <a:rPr sz="1650" b="0">
                <a:solidFill>
                  <a:srgbClr val="E9E5DA"/>
                </a:solidFill>
                <a:latin typeface="Consolas"/>
                <a:ea typeface="Consolas"/>
                <a:cs typeface="Consolas"/>
              </a:rPr>
              <a:t>October 2, 2026</a:t>
            </a:r>
          </a:p>
        </p:txBody>
      </p:sp>
    </p:spTree>
    <p:extLst>
      <p:ext uri="{BB962C8B-B14F-4D97-AF65-F5344CB8AC3E}">
        <p14:creationId xmlns:p14="http://schemas.microsoft.com/office/powerpoint/2010/main" val="984387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711192EC-EF08-4066-B2DB-15A44CB825E9}"/>
              </a:ext>
            </a:extLst>
          </p:cNvPr>
          <p:cNvSpPr>
            <a:spLocks noGrp="1"/>
          </p:cNvSpPr>
          <p:nvPr/>
        </p:nvSpPr>
        <p:spPr>
          <a:xfrm>
            <a:off x="609600" y="400050"/>
            <a:ext cx="10972800" cy="742950"/>
          </a:xfrm>
          <a:prstGeom prst="rect">
            <a:avLst/>
          </a:prstGeom>
          <a:noFill/>
          <a:ln w="0">
            <a:noFill/>
          </a:ln>
        </p:spPr>
        <p:txBody>
          <a:bodyPr wrap="square" lIns="0" tIns="0" rIns="0" bIns="0" anchor="t">
            <a:noAutofit/>
          </a:bodyPr>
          <a:lstStyle>
            <a:defPPr algn="l">
              <a:defRPr sz="3450" b="1">
                <a:solidFill>
                  <a:srgbClr val="26231D"/>
                </a:solidFill>
                <a:latin typeface="Cambria"/>
                <a:ea typeface="Cambria"/>
                <a:cs typeface="Cambria"/>
              </a:defRPr>
            </a:defPPr>
          </a:lstStyle>
          <a:p>
            <a:pPr algn="l">
              <a:defRPr sz="3450" b="1">
                <a:solidFill>
                  <a:srgbClr val="26231D"/>
                </a:solidFill>
                <a:latin typeface="Cambria"/>
                <a:ea typeface="Cambria"/>
                <a:cs typeface="Cambria"/>
              </a:defRPr>
            </a:pPr>
            <a:r>
              <a:rPr sz="3450" b="1">
                <a:solidFill>
                  <a:srgbClr val="26231D"/>
                </a:solidFill>
                <a:latin typeface="Cambria"/>
                <a:ea typeface="Cambria"/>
                <a:cs typeface="Cambria"/>
              </a:rPr>
              <a:t>Why Breeders Need Connected Evidence</a:t>
            </a:r>
          </a:p>
        </p:txBody>
      </p:sp>
      <p:sp>
        <p:nvSpPr>
          <p:cNvPr id="2" name="stakeholder-copy">
            <a:extLst>
              <a:ext uri="{FF2B5EF4-FFF2-40B4-BE49-F238E27FC236}">
                <a16:creationId xmlns:a16="http://schemas.microsoft.com/office/drawing/2014/main" id="{73F7BC97-9EBB-475E-B94A-1D65A4615140}"/>
              </a:ext>
            </a:extLst>
          </p:cNvPr>
          <p:cNvSpPr>
            <a:spLocks noGrp="1"/>
          </p:cNvSpPr>
          <p:nvPr/>
        </p:nvSpPr>
        <p:spPr>
          <a:xfrm>
            <a:off x="609600" y="1257300"/>
            <a:ext cx="10972800" cy="571500"/>
          </a:xfrm>
          <a:prstGeom prst="rect">
            <a:avLst/>
          </a:prstGeom>
          <a:noFill/>
          <a:ln w="0">
            <a:noFill/>
          </a:ln>
        </p:spPr>
        <p:txBody>
          <a:bodyPr wrap="square" lIns="0" tIns="0" rIns="0" bIns="0" anchor="t">
            <a:noAutofit/>
          </a:bodyPr>
          <a:lstStyle>
            <a:defPPr algn="l">
              <a:defRPr sz="1725" b="0">
                <a:solidFill>
                  <a:srgbClr val="7A7466"/>
                </a:solidFill>
                <a:latin typeface="Segoe UI"/>
                <a:ea typeface="Segoe UI"/>
                <a:cs typeface="Segoe UI"/>
              </a:defRPr>
            </a:defPPr>
          </a:lstStyle>
          <a:p>
            <a:pPr algn="l">
              <a:defRPr sz="1725" b="0">
                <a:solidFill>
                  <a:srgbClr val="7A7466"/>
                </a:solidFill>
                <a:latin typeface="Segoe UI"/>
                <a:ea typeface="Segoe UI"/>
                <a:cs typeface="Segoe UI"/>
              </a:defRPr>
            </a:pPr>
            <a:r>
              <a:rPr sz="1725" b="0">
                <a:solidFill>
                  <a:srgbClr val="7A7466"/>
                </a:solidFill>
                <a:latin typeface="Segoe UI"/>
                <a:ea typeface="Segoe UI"/>
                <a:cs typeface="Segoe UI"/>
              </a:rPr>
              <a:t>Reasoned advancement decisions across field, operations, lab and genomics</a:t>
            </a:r>
          </a:p>
        </p:txBody>
      </p:sp>
      <p:sp>
        <p:nvSpPr>
          <p:cNvPr id="3" name="stakeholder-copy">
            <a:extLst>
              <a:ext uri="{FF2B5EF4-FFF2-40B4-BE49-F238E27FC236}">
                <a16:creationId xmlns:a16="http://schemas.microsoft.com/office/drawing/2014/main" id="{B784E4C6-6CCE-4030-839A-D29170073BD1}"/>
              </a:ext>
            </a:extLst>
          </p:cNvPr>
          <p:cNvSpPr>
            <a:spLocks noGrp="1"/>
          </p:cNvSpPr>
          <p:nvPr/>
        </p:nvSpPr>
        <p:spPr>
          <a:xfrm>
            <a:off x="609600" y="6419850"/>
            <a:ext cx="8286750" cy="247650"/>
          </a:xfrm>
          <a:prstGeom prst="rect">
            <a:avLst/>
          </a:prstGeom>
          <a:noFill/>
          <a:ln w="0">
            <a:noFill/>
          </a:ln>
        </p:spPr>
        <p:txBody>
          <a:bodyPr wrap="square" lIns="0" tIns="0" rIns="0" bIns="0" anchor="t">
            <a:noAutofit/>
          </a:bodyPr>
          <a:lstStyle>
            <a:defPPr algn="l">
              <a:defRPr sz="1125" b="0">
                <a:solidFill>
                  <a:srgbClr val="7A7466"/>
                </a:solidFill>
                <a:latin typeface="Segoe UI"/>
                <a:ea typeface="Segoe UI"/>
                <a:cs typeface="Segoe UI"/>
              </a:defRPr>
            </a:defPPr>
          </a:lstStyle>
          <a:p>
            <a:pPr algn="l">
              <a:defRPr sz="1125" b="0">
                <a:solidFill>
                  <a:srgbClr val="7A7466"/>
                </a:solidFill>
                <a:latin typeface="Segoe UI"/>
                <a:ea typeface="Segoe UI"/>
                <a:cs typeface="Segoe UI"/>
              </a:defRPr>
            </a:pPr>
            <a:r>
              <a:rPr sz="1125" b="0">
                <a:solidFill>
                  <a:srgbClr val="7A7466"/>
                </a:solidFill>
                <a:latin typeface="Segoe UI"/>
                <a:ea typeface="Segoe UI"/>
                <a:cs typeface="Segoe UI"/>
              </a:rPr>
              <a:t>Case 4 · October 2, 2026 · 2 / 5</a:t>
            </a:r>
          </a:p>
        </p:txBody>
      </p:sp>
      <p:sp>
        <p:nvSpPr>
          <p:cNvPr id="4" name="stakeholder-copy">
            <a:extLst>
              <a:ext uri="{FF2B5EF4-FFF2-40B4-BE49-F238E27FC236}">
                <a16:creationId xmlns:a16="http://schemas.microsoft.com/office/drawing/2014/main" id="{F41C82A0-FBC5-4BCD-8816-8E8E780C90A7}"/>
              </a:ext>
            </a:extLst>
          </p:cNvPr>
          <p:cNvSpPr>
            <a:spLocks noGrp="1"/>
          </p:cNvSpPr>
          <p:nvPr/>
        </p:nvSpPr>
        <p:spPr>
          <a:xfrm>
            <a:off x="609600" y="2228850"/>
            <a:ext cx="4333875" cy="466725"/>
          </a:xfrm>
          <a:prstGeom prst="rect">
            <a:avLst/>
          </a:prstGeom>
          <a:noFill/>
          <a:ln w="0">
            <a:noFill/>
          </a:ln>
        </p:spPr>
        <p:txBody>
          <a:bodyPr wrap="square" lIns="0" tIns="0" rIns="0" bIns="0" anchor="t">
            <a:noAutofit/>
          </a:bodyPr>
          <a:lstStyle>
            <a:defPPr algn="l">
              <a:defRPr sz="2325" b="1">
                <a:solidFill>
                  <a:srgbClr val="26231D"/>
                </a:solidFill>
                <a:latin typeface="Cambria"/>
                <a:ea typeface="Cambria"/>
                <a:cs typeface="Cambria"/>
              </a:defRPr>
            </a:defPPr>
          </a:lstStyle>
          <a:p>
            <a:pPr algn="l">
              <a:defRPr sz="2325" b="1">
                <a:solidFill>
                  <a:srgbClr val="26231D"/>
                </a:solidFill>
                <a:latin typeface="Cambria"/>
                <a:ea typeface="Cambria"/>
                <a:cs typeface="Cambria"/>
              </a:defRPr>
            </a:pPr>
            <a:r>
              <a:rPr sz="2325" b="1">
                <a:solidFill>
                  <a:srgbClr val="26231D"/>
                </a:solidFill>
                <a:latin typeface="Cambria"/>
                <a:ea typeface="Cambria"/>
                <a:cs typeface="Cambria"/>
              </a:rPr>
              <a:t>Evidence in separate files</a:t>
            </a:r>
          </a:p>
        </p:txBody>
      </p:sp>
      <p:sp>
        <p:nvSpPr>
          <p:cNvPr id="5" name="stakeholder-copy">
            <a:extLst>
              <a:ext uri="{FF2B5EF4-FFF2-40B4-BE49-F238E27FC236}">
                <a16:creationId xmlns:a16="http://schemas.microsoft.com/office/drawing/2014/main" id="{461BABE9-E1CC-414E-ABB5-15116142FE7F}"/>
              </a:ext>
            </a:extLst>
          </p:cNvPr>
          <p:cNvSpPr>
            <a:spLocks noGrp="1"/>
          </p:cNvSpPr>
          <p:nvPr/>
        </p:nvSpPr>
        <p:spPr>
          <a:xfrm>
            <a:off x="609600" y="2809875"/>
            <a:ext cx="4333875" cy="1171575"/>
          </a:xfrm>
          <a:prstGeom prst="rect">
            <a:avLst/>
          </a:prstGeom>
          <a:noFill/>
          <a:ln w="0">
            <a:noFill/>
          </a:ln>
        </p:spPr>
        <p:txBody>
          <a:bodyPr wrap="square" lIns="0" tIns="0" rIns="0" bIns="0" anchor="t">
            <a:noAutofit/>
          </a:bodyPr>
          <a:lstStyle>
            <a:defPPr algn="l">
              <a:defRPr sz="2025" b="0">
                <a:solidFill>
                  <a:srgbClr val="26231D"/>
                </a:solidFill>
                <a:latin typeface="Segoe UI"/>
                <a:ea typeface="Segoe UI"/>
                <a:cs typeface="Segoe UI"/>
              </a:defRPr>
            </a:defPPr>
          </a:lstStyle>
          <a:p>
            <a:pPr algn="l">
              <a:defRPr sz="2025" b="0">
                <a:solidFill>
                  <a:srgbClr val="26231D"/>
                </a:solidFill>
                <a:latin typeface="Segoe UI"/>
                <a:ea typeface="Segoe UI"/>
                <a:cs typeface="Segoe UI"/>
              </a:defRPr>
            </a:pPr>
            <a:r>
              <a:rPr sz="2025" b="0">
                <a:solidFill>
                  <a:srgbClr val="26231D"/>
                </a:solidFill>
                <a:latin typeface="Segoe UI"/>
                <a:ea typeface="Segoe UI"/>
                <a:cs typeface="Segoe UI"/>
              </a:rPr>
              <a:t>Field observations, operations,</a:t>
            </a:r>
          </a:p>
          <a:p>
            <a:pPr algn="l">
              <a:defRPr sz="2025" b="0">
                <a:solidFill>
                  <a:srgbClr val="26231D"/>
                </a:solidFill>
                <a:latin typeface="Segoe UI"/>
                <a:ea typeface="Segoe UI"/>
                <a:cs typeface="Segoe UI"/>
              </a:defRPr>
            </a:pPr>
            <a:r>
              <a:rPr sz="2025" b="0">
                <a:solidFill>
                  <a:srgbClr val="26231D"/>
                </a:solidFill>
                <a:latin typeface="Segoe UI"/>
                <a:ea typeface="Segoe UI"/>
                <a:cs typeface="Segoe UI"/>
              </a:rPr>
              <a:t>laboratory results and genomics</a:t>
            </a:r>
          </a:p>
          <a:p>
            <a:pPr algn="l">
              <a:defRPr sz="2025" b="0">
                <a:solidFill>
                  <a:srgbClr val="26231D"/>
                </a:solidFill>
                <a:latin typeface="Segoe UI"/>
                <a:ea typeface="Segoe UI"/>
                <a:cs typeface="Segoe UI"/>
              </a:defRPr>
            </a:pPr>
            <a:r>
              <a:rPr sz="2025" b="0">
                <a:solidFill>
                  <a:srgbClr val="26231D"/>
                </a:solidFill>
                <a:latin typeface="Segoe UI"/>
                <a:ea typeface="Segoe UI"/>
                <a:cs typeface="Segoe UI"/>
              </a:rPr>
              <a:t>must be connected.</a:t>
            </a:r>
          </a:p>
        </p:txBody>
      </p:sp>
      <p:sp>
        <p:nvSpPr>
          <p:cNvPr id="6" name="stakeholder-copy">
            <a:extLst>
              <a:ext uri="{FF2B5EF4-FFF2-40B4-BE49-F238E27FC236}">
                <a16:creationId xmlns:a16="http://schemas.microsoft.com/office/drawing/2014/main" id="{58A257BA-5698-470C-9176-8C6AAC306821}"/>
              </a:ext>
            </a:extLst>
          </p:cNvPr>
          <p:cNvSpPr>
            <a:spLocks noGrp="1"/>
          </p:cNvSpPr>
          <p:nvPr/>
        </p:nvSpPr>
        <p:spPr>
          <a:xfrm>
            <a:off x="609600" y="4514850"/>
            <a:ext cx="4333875" cy="466725"/>
          </a:xfrm>
          <a:prstGeom prst="rect">
            <a:avLst/>
          </a:prstGeom>
          <a:noFill/>
          <a:ln w="0">
            <a:noFill/>
          </a:ln>
        </p:spPr>
        <p:txBody>
          <a:bodyPr wrap="square" lIns="0" tIns="0" rIns="0" bIns="0" anchor="t">
            <a:noAutofit/>
          </a:bodyPr>
          <a:lstStyle>
            <a:defPPr algn="l">
              <a:defRPr sz="2325" b="1">
                <a:solidFill>
                  <a:srgbClr val="26231D"/>
                </a:solidFill>
                <a:latin typeface="Cambria"/>
                <a:ea typeface="Cambria"/>
                <a:cs typeface="Cambria"/>
              </a:defRPr>
            </a:defPPr>
          </a:lstStyle>
          <a:p>
            <a:pPr algn="l">
              <a:defRPr sz="2325" b="1">
                <a:solidFill>
                  <a:srgbClr val="26231D"/>
                </a:solidFill>
                <a:latin typeface="Cambria"/>
                <a:ea typeface="Cambria"/>
                <a:cs typeface="Cambria"/>
              </a:defRPr>
            </a:pPr>
            <a:r>
              <a:rPr sz="2325" b="1">
                <a:solidFill>
                  <a:srgbClr val="26231D"/>
                </a:solidFill>
                <a:latin typeface="Cambria"/>
                <a:ea typeface="Cambria"/>
                <a:cs typeface="Cambria"/>
              </a:rPr>
              <a:t>Breeder judgment</a:t>
            </a:r>
          </a:p>
        </p:txBody>
      </p:sp>
      <p:sp>
        <p:nvSpPr>
          <p:cNvPr id="7" name="stakeholder-copy">
            <a:extLst>
              <a:ext uri="{FF2B5EF4-FFF2-40B4-BE49-F238E27FC236}">
                <a16:creationId xmlns:a16="http://schemas.microsoft.com/office/drawing/2014/main" id="{1C1E4D7F-4889-4407-9433-273A1532E432}"/>
              </a:ext>
            </a:extLst>
          </p:cNvPr>
          <p:cNvSpPr>
            <a:spLocks noGrp="1"/>
          </p:cNvSpPr>
          <p:nvPr/>
        </p:nvSpPr>
        <p:spPr>
          <a:xfrm>
            <a:off x="609600" y="5067300"/>
            <a:ext cx="4333875" cy="895350"/>
          </a:xfrm>
          <a:prstGeom prst="rect">
            <a:avLst/>
          </a:prstGeom>
          <a:noFill/>
          <a:ln w="0">
            <a:noFill/>
          </a:ln>
        </p:spPr>
        <p:txBody>
          <a:bodyPr wrap="square" lIns="0" tIns="0" rIns="0" bIns="0" anchor="t">
            <a:noAutofit/>
          </a:bodyPr>
          <a:lstStyle>
            <a:defPPr algn="l">
              <a:defRPr sz="1950" b="0">
                <a:solidFill>
                  <a:srgbClr val="26231D"/>
                </a:solidFill>
                <a:latin typeface="Segoe UI"/>
                <a:ea typeface="Segoe UI"/>
                <a:cs typeface="Segoe UI"/>
              </a:defRPr>
            </a:defPPr>
          </a:lstStyle>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An informed choice, with evidence</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and rationale to revisit.</a:t>
            </a:r>
          </a:p>
        </p:txBody>
      </p:sp>
      <p:sp>
        <p:nvSpPr>
          <p:cNvPr id="8" name="stakeholder-copy">
            <a:extLst>
              <a:ext uri="{FF2B5EF4-FFF2-40B4-BE49-F238E27FC236}">
                <a16:creationId xmlns:a16="http://schemas.microsoft.com/office/drawing/2014/main" id="{79F9B3DD-5F23-477E-A0AE-280AFF3E6C44}"/>
              </a:ext>
            </a:extLst>
          </p:cNvPr>
          <p:cNvSpPr>
            <a:spLocks noGrp="1"/>
          </p:cNvSpPr>
          <p:nvPr/>
        </p:nvSpPr>
        <p:spPr>
          <a:xfrm>
            <a:off x="5486400" y="2247900"/>
            <a:ext cx="476250" cy="361950"/>
          </a:xfrm>
          <a:prstGeom prst="rect">
            <a:avLst/>
          </a:prstGeom>
          <a:noFill/>
          <a:ln w="0">
            <a:noFill/>
          </a:ln>
        </p:spPr>
        <p:txBody>
          <a:bodyPr wrap="square" lIns="0" tIns="0" rIns="0" bIns="0" anchor="t">
            <a:noAutofit/>
          </a:bodyPr>
          <a:lstStyle>
            <a:defPPr algn="l">
              <a:defRPr sz="1650" b="0">
                <a:solidFill>
                  <a:srgbClr val="7A7466"/>
                </a:solidFill>
                <a:latin typeface="Consolas"/>
                <a:ea typeface="Consolas"/>
                <a:cs typeface="Consolas"/>
              </a:defRPr>
            </a:defPPr>
          </a:lstStyle>
          <a:p>
            <a:pPr algn="l">
              <a:defRPr sz="1650" b="0">
                <a:solidFill>
                  <a:srgbClr val="7A7466"/>
                </a:solidFill>
                <a:latin typeface="Consolas"/>
                <a:ea typeface="Consolas"/>
                <a:cs typeface="Consolas"/>
              </a:defRPr>
            </a:pPr>
            <a:r>
              <a:rPr sz="1650" b="0">
                <a:solidFill>
                  <a:srgbClr val="7A7466"/>
                </a:solidFill>
                <a:latin typeface="Consolas"/>
                <a:ea typeface="Consolas"/>
                <a:cs typeface="Consolas"/>
              </a:rPr>
              <a:t>01</a:t>
            </a:r>
          </a:p>
        </p:txBody>
      </p:sp>
      <p:sp>
        <p:nvSpPr>
          <p:cNvPr id="9" name="stakeholder-copy">
            <a:extLst>
              <a:ext uri="{FF2B5EF4-FFF2-40B4-BE49-F238E27FC236}">
                <a16:creationId xmlns:a16="http://schemas.microsoft.com/office/drawing/2014/main" id="{F980DC3C-273F-4493-A366-175DFAA5314A}"/>
              </a:ext>
            </a:extLst>
          </p:cNvPr>
          <p:cNvSpPr>
            <a:spLocks noGrp="1"/>
          </p:cNvSpPr>
          <p:nvPr/>
        </p:nvSpPr>
        <p:spPr>
          <a:xfrm>
            <a:off x="6124575" y="2219325"/>
            <a:ext cx="5457825" cy="685800"/>
          </a:xfrm>
          <a:prstGeom prst="rect">
            <a:avLst/>
          </a:prstGeom>
          <a:noFill/>
          <a:ln w="0">
            <a:noFill/>
          </a:ln>
        </p:spPr>
        <p:txBody>
          <a:bodyPr wrap="square" lIns="0" tIns="0" rIns="0" bIns="0" anchor="t">
            <a:noAutofit/>
          </a:bodyPr>
          <a:lstStyle>
            <a:defPPr algn="l">
              <a:defRPr sz="1950" b="0">
                <a:solidFill>
                  <a:srgbClr val="26231D"/>
                </a:solidFill>
                <a:latin typeface="Segoe UI"/>
                <a:ea typeface="Segoe UI"/>
                <a:cs typeface="Segoe UI"/>
              </a:defRPr>
            </a:defPPr>
          </a:lstStyle>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Which candidates need </a:t>
            </a:r>
            <a:br>
              <a:rPr lang="pt-BR" sz="1950" b="0">
                <a:solidFill>
                  <a:srgbClr val="26231D"/>
                </a:solidFill>
                <a:latin typeface="Segoe UI"/>
                <a:ea typeface="Segoe UI"/>
                <a:cs typeface="Segoe UI"/>
              </a:rPr>
            </a:br>
            <a:r>
              <a:rPr sz="1950" b="0">
                <a:solidFill>
                  <a:srgbClr val="26231D"/>
                </a:solidFill>
                <a:latin typeface="Segoe UI"/>
                <a:ea typeface="Segoe UI"/>
                <a:cs typeface="Segoe UI"/>
              </a:rPr>
              <a:t>attention?</a:t>
            </a:r>
          </a:p>
        </p:txBody>
      </p:sp>
      <p:sp>
        <p:nvSpPr>
          <p:cNvPr id="10" name="stakeholder-copy">
            <a:extLst>
              <a:ext uri="{FF2B5EF4-FFF2-40B4-BE49-F238E27FC236}">
                <a16:creationId xmlns:a16="http://schemas.microsoft.com/office/drawing/2014/main" id="{05B6CF24-A44B-427E-86B6-3B620FBF689D}"/>
              </a:ext>
            </a:extLst>
          </p:cNvPr>
          <p:cNvSpPr>
            <a:spLocks noGrp="1"/>
          </p:cNvSpPr>
          <p:nvPr/>
        </p:nvSpPr>
        <p:spPr>
          <a:xfrm>
            <a:off x="5486400" y="3000375"/>
            <a:ext cx="476250" cy="361950"/>
          </a:xfrm>
          <a:prstGeom prst="rect">
            <a:avLst/>
          </a:prstGeom>
          <a:noFill/>
          <a:ln w="0">
            <a:noFill/>
          </a:ln>
        </p:spPr>
        <p:txBody>
          <a:bodyPr wrap="square" lIns="0" tIns="0" rIns="0" bIns="0" anchor="t">
            <a:noAutofit/>
          </a:bodyPr>
          <a:lstStyle>
            <a:defPPr algn="l">
              <a:defRPr sz="1650" b="0">
                <a:solidFill>
                  <a:srgbClr val="7A7466"/>
                </a:solidFill>
                <a:latin typeface="Consolas"/>
                <a:ea typeface="Consolas"/>
                <a:cs typeface="Consolas"/>
              </a:defRPr>
            </a:defPPr>
          </a:lstStyle>
          <a:p>
            <a:pPr algn="l">
              <a:defRPr sz="1650" b="0">
                <a:solidFill>
                  <a:srgbClr val="7A7466"/>
                </a:solidFill>
                <a:latin typeface="Consolas"/>
                <a:ea typeface="Consolas"/>
                <a:cs typeface="Consolas"/>
              </a:defRPr>
            </a:pPr>
            <a:r>
              <a:rPr sz="1650" b="0">
                <a:solidFill>
                  <a:srgbClr val="7A7466"/>
                </a:solidFill>
                <a:latin typeface="Consolas"/>
                <a:ea typeface="Consolas"/>
                <a:cs typeface="Consolas"/>
              </a:rPr>
              <a:t>02</a:t>
            </a:r>
          </a:p>
        </p:txBody>
      </p:sp>
      <p:sp>
        <p:nvSpPr>
          <p:cNvPr id="11" name="stakeholder-copy">
            <a:extLst>
              <a:ext uri="{FF2B5EF4-FFF2-40B4-BE49-F238E27FC236}">
                <a16:creationId xmlns:a16="http://schemas.microsoft.com/office/drawing/2014/main" id="{72EF1C88-D956-4B7D-B92A-8BCA704AE753}"/>
              </a:ext>
            </a:extLst>
          </p:cNvPr>
          <p:cNvSpPr>
            <a:spLocks noGrp="1"/>
          </p:cNvSpPr>
          <p:nvPr/>
        </p:nvSpPr>
        <p:spPr>
          <a:xfrm>
            <a:off x="6124575" y="2971800"/>
            <a:ext cx="5457825" cy="685800"/>
          </a:xfrm>
          <a:prstGeom prst="rect">
            <a:avLst/>
          </a:prstGeom>
          <a:noFill/>
          <a:ln w="0">
            <a:noFill/>
          </a:ln>
        </p:spPr>
        <p:txBody>
          <a:bodyPr wrap="square" lIns="0" tIns="0" rIns="0" bIns="0" anchor="t">
            <a:noAutofit/>
          </a:bodyPr>
          <a:lstStyle>
            <a:defPPr algn="l">
              <a:defRPr sz="1950" b="0">
                <a:solidFill>
                  <a:srgbClr val="26231D"/>
                </a:solidFill>
                <a:latin typeface="Segoe UI"/>
                <a:ea typeface="Segoe UI"/>
                <a:cs typeface="Segoe UI"/>
              </a:defRPr>
            </a:defPPr>
          </a:lstStyle>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Why did this candidate receive</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its assessment?</a:t>
            </a:r>
          </a:p>
        </p:txBody>
      </p:sp>
      <p:sp>
        <p:nvSpPr>
          <p:cNvPr id="12" name="stakeholder-copy">
            <a:extLst>
              <a:ext uri="{FF2B5EF4-FFF2-40B4-BE49-F238E27FC236}">
                <a16:creationId xmlns:a16="http://schemas.microsoft.com/office/drawing/2014/main" id="{818A7EED-5B94-403E-8D36-F5651307606A}"/>
              </a:ext>
            </a:extLst>
          </p:cNvPr>
          <p:cNvSpPr>
            <a:spLocks noGrp="1"/>
          </p:cNvSpPr>
          <p:nvPr/>
        </p:nvSpPr>
        <p:spPr>
          <a:xfrm>
            <a:off x="5486400" y="3752850"/>
            <a:ext cx="476250" cy="361950"/>
          </a:xfrm>
          <a:prstGeom prst="rect">
            <a:avLst/>
          </a:prstGeom>
          <a:noFill/>
          <a:ln w="0">
            <a:noFill/>
          </a:ln>
        </p:spPr>
        <p:txBody>
          <a:bodyPr wrap="square" lIns="0" tIns="0" rIns="0" bIns="0" anchor="t">
            <a:noAutofit/>
          </a:bodyPr>
          <a:lstStyle>
            <a:defPPr algn="l">
              <a:defRPr sz="1650" b="0">
                <a:solidFill>
                  <a:srgbClr val="7A7466"/>
                </a:solidFill>
                <a:latin typeface="Consolas"/>
                <a:ea typeface="Consolas"/>
                <a:cs typeface="Consolas"/>
              </a:defRPr>
            </a:defPPr>
          </a:lstStyle>
          <a:p>
            <a:pPr algn="l">
              <a:defRPr sz="1650" b="0">
                <a:solidFill>
                  <a:srgbClr val="7A7466"/>
                </a:solidFill>
                <a:latin typeface="Consolas"/>
                <a:ea typeface="Consolas"/>
                <a:cs typeface="Consolas"/>
              </a:defRPr>
            </a:pPr>
            <a:r>
              <a:rPr sz="1650" b="0">
                <a:solidFill>
                  <a:srgbClr val="7A7466"/>
                </a:solidFill>
                <a:latin typeface="Consolas"/>
                <a:ea typeface="Consolas"/>
                <a:cs typeface="Consolas"/>
              </a:rPr>
              <a:t>03</a:t>
            </a:r>
          </a:p>
        </p:txBody>
      </p:sp>
      <p:sp>
        <p:nvSpPr>
          <p:cNvPr id="13" name="stakeholder-copy">
            <a:extLst>
              <a:ext uri="{FF2B5EF4-FFF2-40B4-BE49-F238E27FC236}">
                <a16:creationId xmlns:a16="http://schemas.microsoft.com/office/drawing/2014/main" id="{F1DC5AA1-38BB-4CEF-973C-E73C2D4AD555}"/>
              </a:ext>
            </a:extLst>
          </p:cNvPr>
          <p:cNvSpPr>
            <a:spLocks noGrp="1"/>
          </p:cNvSpPr>
          <p:nvPr/>
        </p:nvSpPr>
        <p:spPr>
          <a:xfrm>
            <a:off x="6124575" y="3724275"/>
            <a:ext cx="5457825" cy="685800"/>
          </a:xfrm>
          <a:prstGeom prst="rect">
            <a:avLst/>
          </a:prstGeom>
          <a:noFill/>
          <a:ln w="0">
            <a:noFill/>
          </a:ln>
        </p:spPr>
        <p:txBody>
          <a:bodyPr wrap="square" lIns="0" tIns="0" rIns="0" bIns="0" anchor="t">
            <a:noAutofit/>
          </a:bodyPr>
          <a:lstStyle>
            <a:defPPr algn="l">
              <a:defRPr sz="1950" b="0">
                <a:solidFill>
                  <a:srgbClr val="26231D"/>
                </a:solidFill>
                <a:latin typeface="Segoe UI"/>
                <a:ea typeface="Segoe UI"/>
                <a:cs typeface="Segoe UI"/>
              </a:defRPr>
            </a:defPPr>
          </a:lstStyle>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Which criteria failed or have</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incomplete evidence?</a:t>
            </a:r>
          </a:p>
        </p:txBody>
      </p:sp>
      <p:sp>
        <p:nvSpPr>
          <p:cNvPr id="14" name="stakeholder-copy">
            <a:extLst>
              <a:ext uri="{FF2B5EF4-FFF2-40B4-BE49-F238E27FC236}">
                <a16:creationId xmlns:a16="http://schemas.microsoft.com/office/drawing/2014/main" id="{2812C4E4-B2DF-44E5-8416-FA0130A19DEA}"/>
              </a:ext>
            </a:extLst>
          </p:cNvPr>
          <p:cNvSpPr>
            <a:spLocks noGrp="1"/>
          </p:cNvSpPr>
          <p:nvPr/>
        </p:nvSpPr>
        <p:spPr>
          <a:xfrm>
            <a:off x="5486400" y="4505325"/>
            <a:ext cx="476250" cy="361950"/>
          </a:xfrm>
          <a:prstGeom prst="rect">
            <a:avLst/>
          </a:prstGeom>
          <a:noFill/>
          <a:ln w="0">
            <a:noFill/>
          </a:ln>
        </p:spPr>
        <p:txBody>
          <a:bodyPr wrap="square" lIns="0" tIns="0" rIns="0" bIns="0" anchor="t">
            <a:noAutofit/>
          </a:bodyPr>
          <a:lstStyle>
            <a:defPPr algn="l">
              <a:defRPr sz="1650" b="0">
                <a:solidFill>
                  <a:srgbClr val="7A7466"/>
                </a:solidFill>
                <a:latin typeface="Consolas"/>
                <a:ea typeface="Consolas"/>
                <a:cs typeface="Consolas"/>
              </a:defRPr>
            </a:defPPr>
          </a:lstStyle>
          <a:p>
            <a:pPr algn="l">
              <a:defRPr sz="1650" b="0">
                <a:solidFill>
                  <a:srgbClr val="7A7466"/>
                </a:solidFill>
                <a:latin typeface="Consolas"/>
                <a:ea typeface="Consolas"/>
                <a:cs typeface="Consolas"/>
              </a:defRPr>
            </a:pPr>
            <a:r>
              <a:rPr sz="1650" b="0">
                <a:solidFill>
                  <a:srgbClr val="7A7466"/>
                </a:solidFill>
                <a:latin typeface="Consolas"/>
                <a:ea typeface="Consolas"/>
                <a:cs typeface="Consolas"/>
              </a:rPr>
              <a:t>04</a:t>
            </a:r>
          </a:p>
        </p:txBody>
      </p:sp>
      <p:sp>
        <p:nvSpPr>
          <p:cNvPr id="15" name="stakeholder-copy">
            <a:extLst>
              <a:ext uri="{FF2B5EF4-FFF2-40B4-BE49-F238E27FC236}">
                <a16:creationId xmlns:a16="http://schemas.microsoft.com/office/drawing/2014/main" id="{5E60499E-9364-41E1-B6A8-3EAEF6FC7F53}"/>
              </a:ext>
            </a:extLst>
          </p:cNvPr>
          <p:cNvSpPr>
            <a:spLocks noGrp="1"/>
          </p:cNvSpPr>
          <p:nvPr/>
        </p:nvSpPr>
        <p:spPr>
          <a:xfrm>
            <a:off x="6124575" y="4476750"/>
            <a:ext cx="5457825" cy="685800"/>
          </a:xfrm>
          <a:prstGeom prst="rect">
            <a:avLst/>
          </a:prstGeom>
          <a:noFill/>
          <a:ln w="0">
            <a:noFill/>
          </a:ln>
        </p:spPr>
        <p:txBody>
          <a:bodyPr wrap="square" lIns="0" tIns="0" rIns="0" bIns="0" anchor="t">
            <a:noAutofit/>
          </a:bodyPr>
          <a:lstStyle>
            <a:defPPr algn="l">
              <a:defRPr sz="1950" b="0">
                <a:solidFill>
                  <a:srgbClr val="26231D"/>
                </a:solidFill>
                <a:latin typeface="Segoe UI"/>
                <a:ea typeface="Segoe UI"/>
                <a:cs typeface="Segoe UI"/>
              </a:defRPr>
            </a:defPPr>
          </a:lstStyle>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What source evidence supports</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the assessment?</a:t>
            </a:r>
          </a:p>
        </p:txBody>
      </p:sp>
      <p:sp>
        <p:nvSpPr>
          <p:cNvPr id="16" name="stakeholder-copy">
            <a:extLst>
              <a:ext uri="{FF2B5EF4-FFF2-40B4-BE49-F238E27FC236}">
                <a16:creationId xmlns:a16="http://schemas.microsoft.com/office/drawing/2014/main" id="{0CC62610-7E95-4BB1-A0A9-F4188C2C6E16}"/>
              </a:ext>
            </a:extLst>
          </p:cNvPr>
          <p:cNvSpPr>
            <a:spLocks noGrp="1"/>
          </p:cNvSpPr>
          <p:nvPr/>
        </p:nvSpPr>
        <p:spPr>
          <a:xfrm>
            <a:off x="5486400" y="5257800"/>
            <a:ext cx="476250" cy="361950"/>
          </a:xfrm>
          <a:prstGeom prst="rect">
            <a:avLst/>
          </a:prstGeom>
          <a:noFill/>
          <a:ln w="0">
            <a:noFill/>
          </a:ln>
        </p:spPr>
        <p:txBody>
          <a:bodyPr wrap="square" lIns="0" tIns="0" rIns="0" bIns="0" anchor="t">
            <a:noAutofit/>
          </a:bodyPr>
          <a:lstStyle>
            <a:defPPr algn="l">
              <a:defRPr sz="1650" b="0">
                <a:solidFill>
                  <a:srgbClr val="7A7466"/>
                </a:solidFill>
                <a:latin typeface="Consolas"/>
                <a:ea typeface="Consolas"/>
                <a:cs typeface="Consolas"/>
              </a:defRPr>
            </a:defPPr>
          </a:lstStyle>
          <a:p>
            <a:pPr algn="l">
              <a:defRPr sz="1650" b="0">
                <a:solidFill>
                  <a:srgbClr val="7A7466"/>
                </a:solidFill>
                <a:latin typeface="Consolas"/>
                <a:ea typeface="Consolas"/>
                <a:cs typeface="Consolas"/>
              </a:defRPr>
            </a:pPr>
            <a:r>
              <a:rPr sz="1650" b="0">
                <a:solidFill>
                  <a:srgbClr val="7A7466"/>
                </a:solidFill>
                <a:latin typeface="Consolas"/>
                <a:ea typeface="Consolas"/>
                <a:cs typeface="Consolas"/>
              </a:rPr>
              <a:t>05</a:t>
            </a:r>
          </a:p>
        </p:txBody>
      </p:sp>
      <p:sp>
        <p:nvSpPr>
          <p:cNvPr id="17" name="stakeholder-copy">
            <a:extLst>
              <a:ext uri="{FF2B5EF4-FFF2-40B4-BE49-F238E27FC236}">
                <a16:creationId xmlns:a16="http://schemas.microsoft.com/office/drawing/2014/main" id="{BDA904EE-B906-4314-BD9F-26B1208ED5D0}"/>
              </a:ext>
            </a:extLst>
          </p:cNvPr>
          <p:cNvSpPr>
            <a:spLocks noGrp="1"/>
          </p:cNvSpPr>
          <p:nvPr/>
        </p:nvSpPr>
        <p:spPr>
          <a:xfrm>
            <a:off x="6124575" y="5229225"/>
            <a:ext cx="5457825" cy="685800"/>
          </a:xfrm>
          <a:prstGeom prst="rect">
            <a:avLst/>
          </a:prstGeom>
          <a:noFill/>
          <a:ln w="0">
            <a:noFill/>
          </a:ln>
        </p:spPr>
        <p:txBody>
          <a:bodyPr wrap="square" lIns="0" tIns="0" rIns="0" bIns="0" anchor="t">
            <a:noAutofit/>
          </a:bodyPr>
          <a:lstStyle>
            <a:defPPr algn="l">
              <a:defRPr sz="1950" b="0">
                <a:solidFill>
                  <a:srgbClr val="26231D"/>
                </a:solidFill>
                <a:latin typeface="Segoe UI"/>
                <a:ea typeface="Segoe UI"/>
                <a:cs typeface="Segoe UI"/>
              </a:defRPr>
            </a:defPPr>
          </a:lstStyle>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Can I decide and revisit</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my rationale later?</a:t>
            </a:r>
          </a:p>
        </p:txBody>
      </p:sp>
    </p:spTree>
    <p:extLst>
      <p:ext uri="{BB962C8B-B14F-4D97-AF65-F5344CB8AC3E}">
        <p14:creationId xmlns:p14="http://schemas.microsoft.com/office/powerpoint/2010/main" val="167376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F79AFC9C-1705-4528-85CD-5979A316126B}"/>
              </a:ext>
            </a:extLst>
          </p:cNvPr>
          <p:cNvCxnSpPr>
            <a:stCxn id="7" idx="2"/>
            <a:endCxn id="17" idx="0"/>
          </p:cNvCxnSpPr>
          <p:nvPr/>
        </p:nvCxnSpPr>
        <p:spPr>
          <a:xfrm>
            <a:off x="9696450" y="3305175"/>
            <a:ext cx="0" cy="571500"/>
          </a:xfrm>
          <a:prstGeom prst="straightConnector1">
            <a:avLst/>
          </a:prstGeom>
          <a:ln w="19050">
            <a:solidFill>
              <a:srgbClr val="7A7466"/>
            </a:solidFill>
            <a:prstDash val="solid"/>
            <a:tailEnd type="triangle" w="med" len="med"/>
          </a:ln>
        </p:spPr>
      </p:cxnSp>
      <p:cxnSp>
        <p:nvCxnSpPr>
          <p:cNvPr id="22" name="Straight Arrow Connector 21">
            <a:extLst>
              <a:ext uri="{FF2B5EF4-FFF2-40B4-BE49-F238E27FC236}">
                <a16:creationId xmlns:a16="http://schemas.microsoft.com/office/drawing/2014/main" id="{949E2F71-4E06-433A-90C5-51428DFEB37A}"/>
              </a:ext>
            </a:extLst>
          </p:cNvPr>
          <p:cNvCxnSpPr>
            <a:stCxn id="6" idx="2"/>
            <a:endCxn id="16" idx="0"/>
          </p:cNvCxnSpPr>
          <p:nvPr/>
        </p:nvCxnSpPr>
        <p:spPr>
          <a:xfrm>
            <a:off x="5462588" y="3305175"/>
            <a:ext cx="0" cy="571500"/>
          </a:xfrm>
          <a:prstGeom prst="straightConnector1">
            <a:avLst/>
          </a:prstGeom>
          <a:ln w="19050">
            <a:solidFill>
              <a:srgbClr val="7A7466"/>
            </a:solidFill>
            <a:prstDash val="solid"/>
            <a:tailEnd type="triangle" w="med" len="med"/>
          </a:ln>
        </p:spPr>
      </p:cxnSp>
      <p:cxnSp>
        <p:nvCxnSpPr>
          <p:cNvPr id="15" name="Straight Arrow Connector 14">
            <a:extLst>
              <a:ext uri="{FF2B5EF4-FFF2-40B4-BE49-F238E27FC236}">
                <a16:creationId xmlns:a16="http://schemas.microsoft.com/office/drawing/2014/main" id="{138C36DA-EA5B-4027-9450-6C35137B5A83}"/>
              </a:ext>
            </a:extLst>
          </p:cNvPr>
          <p:cNvCxnSpPr>
            <a:stCxn id="6" idx="3"/>
            <a:endCxn id="7" idx="1"/>
          </p:cNvCxnSpPr>
          <p:nvPr/>
        </p:nvCxnSpPr>
        <p:spPr>
          <a:xfrm>
            <a:off x="7096125" y="2743200"/>
            <a:ext cx="714375" cy="0"/>
          </a:xfrm>
          <a:prstGeom prst="straightConnector1">
            <a:avLst/>
          </a:prstGeom>
          <a:ln w="19050">
            <a:solidFill>
              <a:srgbClr val="7A7466"/>
            </a:solidFill>
            <a:prstDash val="solid"/>
            <a:tailEnd type="triangle" w="med" len="med"/>
          </a:ln>
        </p:spPr>
      </p:cxnSp>
      <p:cxnSp>
        <p:nvCxnSpPr>
          <p:cNvPr id="14" name="Straight Arrow Connector 13">
            <a:extLst>
              <a:ext uri="{FF2B5EF4-FFF2-40B4-BE49-F238E27FC236}">
                <a16:creationId xmlns:a16="http://schemas.microsoft.com/office/drawing/2014/main" id="{C4EFAE51-EF2B-4C01-A709-A2A7D0EA4C8A}"/>
              </a:ext>
            </a:extLst>
          </p:cNvPr>
          <p:cNvCxnSpPr>
            <a:stCxn id="5" idx="3"/>
            <a:endCxn id="6" idx="1"/>
          </p:cNvCxnSpPr>
          <p:nvPr/>
        </p:nvCxnSpPr>
        <p:spPr>
          <a:xfrm>
            <a:off x="3124200" y="2743200"/>
            <a:ext cx="704850" cy="0"/>
          </a:xfrm>
          <a:prstGeom prst="straightConnector1">
            <a:avLst/>
          </a:prstGeom>
          <a:ln w="19050">
            <a:solidFill>
              <a:srgbClr val="7A7466"/>
            </a:solidFill>
            <a:prstDash val="solid"/>
            <a:tailEnd type="triangle" w="med" len="med"/>
          </a:ln>
        </p:spPr>
      </p:cxnSp>
      <p:sp>
        <p:nvSpPr>
          <p:cNvPr id="28" name="slide-title">
            <a:extLst>
              <a:ext uri="{FF2B5EF4-FFF2-40B4-BE49-F238E27FC236}">
                <a16:creationId xmlns:a16="http://schemas.microsoft.com/office/drawing/2014/main" id="{67FE2A50-D9A5-4A2F-BE34-0353193E1BC4}"/>
              </a:ext>
            </a:extLst>
          </p:cNvPr>
          <p:cNvSpPr>
            <a:spLocks noGrp="1"/>
          </p:cNvSpPr>
          <p:nvPr/>
        </p:nvSpPr>
        <p:spPr>
          <a:xfrm>
            <a:off x="609600" y="400050"/>
            <a:ext cx="10972800" cy="742950"/>
          </a:xfrm>
          <a:prstGeom prst="rect">
            <a:avLst/>
          </a:prstGeom>
          <a:noFill/>
          <a:ln w="0">
            <a:noFill/>
          </a:ln>
        </p:spPr>
        <p:txBody>
          <a:bodyPr wrap="square" lIns="0" tIns="0" rIns="0" bIns="0" anchor="t">
            <a:noAutofit/>
          </a:bodyPr>
          <a:lstStyle>
            <a:defPPr algn="l">
              <a:defRPr sz="3450" b="1">
                <a:solidFill>
                  <a:srgbClr val="26231D"/>
                </a:solidFill>
                <a:latin typeface="Cambria"/>
                <a:ea typeface="Cambria"/>
                <a:cs typeface="Cambria"/>
              </a:defRPr>
            </a:defPPr>
          </a:lstStyle>
          <a:p>
            <a:pPr algn="l">
              <a:buNone/>
              <a:defRPr sz="3450" b="1">
                <a:solidFill>
                  <a:srgbClr val="26231D"/>
                </a:solidFill>
                <a:latin typeface="Cambria"/>
                <a:ea typeface="Cambria"/>
                <a:cs typeface="Cambria"/>
              </a:defRPr>
            </a:pPr>
            <a:r>
              <a:rPr sz="3450" b="1">
                <a:solidFill>
                  <a:srgbClr val="26231D"/>
                </a:solidFill>
                <a:latin typeface="Cambria"/>
                <a:ea typeface="Cambria"/>
                <a:cs typeface="Cambria"/>
              </a:rPr>
              <a:t>How The Product Works</a:t>
            </a:r>
          </a:p>
        </p:txBody>
      </p:sp>
      <p:sp>
        <p:nvSpPr>
          <p:cNvPr id="2" name="copy">
            <a:extLst>
              <a:ext uri="{FF2B5EF4-FFF2-40B4-BE49-F238E27FC236}">
                <a16:creationId xmlns:a16="http://schemas.microsoft.com/office/drawing/2014/main" id="{C9AE9541-BDDC-4E0F-8729-BE9663712E67}"/>
              </a:ext>
            </a:extLst>
          </p:cNvPr>
          <p:cNvSpPr>
            <a:spLocks noGrp="1"/>
          </p:cNvSpPr>
          <p:nvPr/>
        </p:nvSpPr>
        <p:spPr>
          <a:xfrm>
            <a:off x="609600" y="1257300"/>
            <a:ext cx="10972800" cy="571500"/>
          </a:xfrm>
          <a:prstGeom prst="rect">
            <a:avLst/>
          </a:prstGeom>
          <a:noFill/>
          <a:ln w="0">
            <a:noFill/>
          </a:ln>
        </p:spPr>
        <p:txBody>
          <a:bodyPr wrap="square" lIns="0" tIns="0" rIns="0" bIns="0" anchor="t">
            <a:noAutofit/>
          </a:bodyPr>
          <a:lstStyle>
            <a:defPPr algn="l">
              <a:defRPr sz="1725" b="0">
                <a:solidFill>
                  <a:srgbClr val="7A7466"/>
                </a:solidFill>
                <a:latin typeface="Segoe UI"/>
                <a:ea typeface="Segoe UI"/>
                <a:cs typeface="Segoe UI"/>
              </a:defRPr>
            </a:defPPr>
          </a:lstStyle>
          <a:p>
            <a:pPr algn="l">
              <a:buNone/>
              <a:defRPr sz="1725" b="0">
                <a:solidFill>
                  <a:srgbClr val="7A7466"/>
                </a:solidFill>
                <a:latin typeface="Segoe UI"/>
                <a:ea typeface="Segoe UI"/>
                <a:cs typeface="Segoe UI"/>
              </a:defRPr>
            </a:pPr>
            <a:r>
              <a:rPr sz="1725" b="0">
                <a:solidFill>
                  <a:srgbClr val="7A7466"/>
                </a:solidFill>
                <a:latin typeface="Segoe UI"/>
                <a:ea typeface="Segoe UI"/>
                <a:cs typeface="Segoe UI"/>
              </a:rPr>
              <a:t>Evidence reconstruction, AI assistance and confirmed breeder actions</a:t>
            </a:r>
          </a:p>
        </p:txBody>
      </p:sp>
      <p:sp>
        <p:nvSpPr>
          <p:cNvPr id="3" name="copy">
            <a:extLst>
              <a:ext uri="{FF2B5EF4-FFF2-40B4-BE49-F238E27FC236}">
                <a16:creationId xmlns:a16="http://schemas.microsoft.com/office/drawing/2014/main" id="{1A094540-0B7F-4B99-81F2-C1C01ED6F040}"/>
              </a:ext>
            </a:extLst>
          </p:cNvPr>
          <p:cNvSpPr>
            <a:spLocks noGrp="1"/>
          </p:cNvSpPr>
          <p:nvPr/>
        </p:nvSpPr>
        <p:spPr>
          <a:xfrm>
            <a:off x="609600" y="6419850"/>
            <a:ext cx="8286750" cy="247650"/>
          </a:xfrm>
          <a:prstGeom prst="rect">
            <a:avLst/>
          </a:prstGeom>
          <a:noFill/>
          <a:ln w="0">
            <a:noFill/>
          </a:ln>
        </p:spPr>
        <p:txBody>
          <a:bodyPr wrap="square" lIns="0" tIns="0" rIns="0" bIns="0" anchor="t">
            <a:noAutofit/>
          </a:bodyPr>
          <a:lstStyle>
            <a:defPPr algn="l">
              <a:defRPr sz="1125" b="0">
                <a:solidFill>
                  <a:srgbClr val="7A7466"/>
                </a:solidFill>
                <a:latin typeface="Segoe UI"/>
                <a:ea typeface="Segoe UI"/>
                <a:cs typeface="Segoe UI"/>
              </a:defRPr>
            </a:defPPr>
          </a:lstStyle>
          <a:p>
            <a:pPr algn="l">
              <a:buNone/>
              <a:defRPr sz="1125" b="0">
                <a:solidFill>
                  <a:srgbClr val="7A7466"/>
                </a:solidFill>
                <a:latin typeface="Segoe UI"/>
                <a:ea typeface="Segoe UI"/>
                <a:cs typeface="Segoe UI"/>
              </a:defRPr>
            </a:pPr>
            <a:r>
              <a:rPr sz="1125" b="0">
                <a:solidFill>
                  <a:srgbClr val="7A7466"/>
                </a:solidFill>
                <a:latin typeface="Segoe UI"/>
                <a:ea typeface="Segoe UI"/>
                <a:cs typeface="Segoe UI"/>
              </a:rPr>
              <a:t>Case 4 · October 2, 2026 · 3 / 5</a:t>
            </a:r>
          </a:p>
        </p:txBody>
      </p:sp>
      <p:sp>
        <p:nvSpPr>
          <p:cNvPr id="5" name="diagram-node">
            <a:extLst>
              <a:ext uri="{FF2B5EF4-FFF2-40B4-BE49-F238E27FC236}">
                <a16:creationId xmlns:a16="http://schemas.microsoft.com/office/drawing/2014/main" id="{BB40C99F-224A-428A-B6C8-7184E1E37573}"/>
              </a:ext>
            </a:extLst>
          </p:cNvPr>
          <p:cNvSpPr>
            <a:spLocks noGrp="1"/>
          </p:cNvSpPr>
          <p:nvPr/>
        </p:nvSpPr>
        <p:spPr>
          <a:xfrm>
            <a:off x="609600" y="2181225"/>
            <a:ext cx="2514600" cy="1123950"/>
          </a:xfrm>
          <a:prstGeom prst="rect">
            <a:avLst/>
          </a:prstGeom>
          <a:solidFill>
            <a:srgbClr val="FDFCF9"/>
          </a:solidFill>
          <a:ln w="9525">
            <a:solidFill>
              <a:srgbClr val="E3DED2"/>
            </a:solidFill>
          </a:ln>
        </p:spPr>
        <p:txBody>
          <a:bodyPr/>
          <a:lstStyle/>
          <a:p>
            <a:endParaRPr/>
          </a:p>
        </p:txBody>
      </p:sp>
      <p:sp>
        <p:nvSpPr>
          <p:cNvPr id="6" name="diagram-node">
            <a:extLst>
              <a:ext uri="{FF2B5EF4-FFF2-40B4-BE49-F238E27FC236}">
                <a16:creationId xmlns:a16="http://schemas.microsoft.com/office/drawing/2014/main" id="{0CB4BA9B-44EF-460C-89B2-E73B8C9560B3}"/>
              </a:ext>
            </a:extLst>
          </p:cNvPr>
          <p:cNvSpPr>
            <a:spLocks noGrp="1"/>
          </p:cNvSpPr>
          <p:nvPr/>
        </p:nvSpPr>
        <p:spPr>
          <a:xfrm>
            <a:off x="3829050" y="2181225"/>
            <a:ext cx="3267075" cy="1123950"/>
          </a:xfrm>
          <a:prstGeom prst="rect">
            <a:avLst/>
          </a:prstGeom>
          <a:solidFill>
            <a:srgbClr val="FDFCF9"/>
          </a:solidFill>
          <a:ln w="9525">
            <a:solidFill>
              <a:srgbClr val="E3DED2"/>
            </a:solidFill>
          </a:ln>
        </p:spPr>
        <p:txBody>
          <a:bodyPr/>
          <a:lstStyle/>
          <a:p>
            <a:endParaRPr/>
          </a:p>
        </p:txBody>
      </p:sp>
      <p:sp>
        <p:nvSpPr>
          <p:cNvPr id="7" name="diagram-node">
            <a:extLst>
              <a:ext uri="{FF2B5EF4-FFF2-40B4-BE49-F238E27FC236}">
                <a16:creationId xmlns:a16="http://schemas.microsoft.com/office/drawing/2014/main" id="{EF4A61B9-CD95-4DD9-924A-0F503D144384}"/>
              </a:ext>
            </a:extLst>
          </p:cNvPr>
          <p:cNvSpPr>
            <a:spLocks noGrp="1"/>
          </p:cNvSpPr>
          <p:nvPr/>
        </p:nvSpPr>
        <p:spPr>
          <a:xfrm>
            <a:off x="7810500" y="2181225"/>
            <a:ext cx="3771900" cy="1123950"/>
          </a:xfrm>
          <a:prstGeom prst="rect">
            <a:avLst/>
          </a:prstGeom>
          <a:solidFill>
            <a:srgbClr val="FDFCF9"/>
          </a:solidFill>
          <a:ln w="9525">
            <a:solidFill>
              <a:srgbClr val="E3DED2"/>
            </a:solidFill>
          </a:ln>
        </p:spPr>
        <p:txBody>
          <a:bodyPr/>
          <a:lstStyle/>
          <a:p>
            <a:endParaRPr/>
          </a:p>
        </p:txBody>
      </p:sp>
      <p:sp>
        <p:nvSpPr>
          <p:cNvPr id="8" name="copy">
            <a:extLst>
              <a:ext uri="{FF2B5EF4-FFF2-40B4-BE49-F238E27FC236}">
                <a16:creationId xmlns:a16="http://schemas.microsoft.com/office/drawing/2014/main" id="{69833C1B-18DF-4FF8-8923-E542171DE4B1}"/>
              </a:ext>
            </a:extLst>
          </p:cNvPr>
          <p:cNvSpPr>
            <a:spLocks noGrp="1"/>
          </p:cNvSpPr>
          <p:nvPr/>
        </p:nvSpPr>
        <p:spPr>
          <a:xfrm>
            <a:off x="762000" y="2324100"/>
            <a:ext cx="2200275" cy="381000"/>
          </a:xfrm>
          <a:prstGeom prst="rect">
            <a:avLst/>
          </a:prstGeom>
          <a:noFill/>
          <a:ln w="0">
            <a:noFill/>
          </a:ln>
        </p:spPr>
        <p:txBody>
          <a:bodyPr wrap="square" lIns="0" tIns="0" rIns="0" bIns="0" anchor="t">
            <a:noAutofit/>
          </a:bodyPr>
          <a:lstStyle>
            <a:defPPr algn="l">
              <a:defRPr sz="2025" b="1">
                <a:solidFill>
                  <a:srgbClr val="26231D"/>
                </a:solidFill>
                <a:latin typeface="Cambria"/>
                <a:ea typeface="Cambria"/>
                <a:cs typeface="Cambria"/>
              </a:defRPr>
            </a:defPPr>
          </a:lstStyle>
          <a:p>
            <a:pPr algn="l">
              <a:buNone/>
              <a:defRPr sz="2025" b="1">
                <a:solidFill>
                  <a:srgbClr val="26231D"/>
                </a:solidFill>
                <a:latin typeface="Cambria"/>
                <a:ea typeface="Cambria"/>
                <a:cs typeface="Cambria"/>
              </a:defRPr>
            </a:pPr>
            <a:r>
              <a:rPr sz="2025" b="1">
                <a:solidFill>
                  <a:srgbClr val="26231D"/>
                </a:solidFill>
                <a:latin typeface="Cambria"/>
                <a:ea typeface="Cambria"/>
                <a:cs typeface="Cambria"/>
              </a:rPr>
              <a:t>Eight Source CSVs</a:t>
            </a:r>
          </a:p>
        </p:txBody>
      </p:sp>
      <p:sp>
        <p:nvSpPr>
          <p:cNvPr id="9" name="copy">
            <a:extLst>
              <a:ext uri="{FF2B5EF4-FFF2-40B4-BE49-F238E27FC236}">
                <a16:creationId xmlns:a16="http://schemas.microsoft.com/office/drawing/2014/main" id="{CD5EEFE6-288D-4F76-8887-35555B69FF3A}"/>
              </a:ext>
            </a:extLst>
          </p:cNvPr>
          <p:cNvSpPr>
            <a:spLocks noGrp="1"/>
          </p:cNvSpPr>
          <p:nvPr/>
        </p:nvSpPr>
        <p:spPr>
          <a:xfrm>
            <a:off x="762000" y="2762250"/>
            <a:ext cx="2200275" cy="514350"/>
          </a:xfrm>
          <a:prstGeom prst="rect">
            <a:avLst/>
          </a:prstGeom>
          <a:noFill/>
          <a:ln w="0">
            <a:noFill/>
          </a:ln>
        </p:spPr>
        <p:txBody>
          <a:bodyPr wrap="square" lIns="0" tIns="0" rIns="0" bIns="0" anchor="t">
            <a:noAutofit/>
          </a:bodyPr>
          <a:lstStyle>
            <a:defPPr algn="l">
              <a:defRPr sz="1725" b="0">
                <a:solidFill>
                  <a:srgbClr val="26231D"/>
                </a:solidFill>
                <a:latin typeface="Segoe UI"/>
                <a:ea typeface="Segoe UI"/>
                <a:cs typeface="Segoe UI"/>
              </a:defRPr>
            </a:defPPr>
          </a:lstStyle>
          <a:p>
            <a:pPr algn="l">
              <a:buNone/>
              <a:defRPr sz="1725" b="0">
                <a:solidFill>
                  <a:srgbClr val="26231D"/>
                </a:solidFill>
                <a:latin typeface="Segoe UI"/>
                <a:ea typeface="Segoe UI"/>
                <a:cs typeface="Segoe UI"/>
              </a:defRPr>
            </a:pPr>
            <a:r>
              <a:rPr sz="1725" b="0">
                <a:solidFill>
                  <a:srgbClr val="26231D"/>
                </a:solidFill>
                <a:latin typeface="Segoe UI"/>
                <a:ea typeface="Segoe UI"/>
                <a:cs typeface="Segoe UI"/>
              </a:rPr>
              <a:t>Trial, lab, genomics</a:t>
            </a:r>
          </a:p>
          <a:p>
            <a:pPr algn="l">
              <a:buNone/>
              <a:defRPr sz="1725" b="0">
                <a:solidFill>
                  <a:srgbClr val="26231D"/>
                </a:solidFill>
                <a:latin typeface="Segoe UI"/>
                <a:ea typeface="Segoe UI"/>
                <a:cs typeface="Segoe UI"/>
              </a:defRPr>
            </a:pPr>
            <a:r>
              <a:rPr sz="1725" b="0">
                <a:solidFill>
                  <a:srgbClr val="26231D"/>
                </a:solidFill>
                <a:latin typeface="Segoe UI"/>
                <a:ea typeface="Segoe UI"/>
                <a:cs typeface="Segoe UI"/>
              </a:rPr>
              <a:t>and field operations</a:t>
            </a:r>
          </a:p>
        </p:txBody>
      </p:sp>
      <p:sp>
        <p:nvSpPr>
          <p:cNvPr id="10" name="copy">
            <a:extLst>
              <a:ext uri="{FF2B5EF4-FFF2-40B4-BE49-F238E27FC236}">
                <a16:creationId xmlns:a16="http://schemas.microsoft.com/office/drawing/2014/main" id="{1201B907-C72C-45DF-AEA7-4278E1871A31}"/>
              </a:ext>
            </a:extLst>
          </p:cNvPr>
          <p:cNvSpPr>
            <a:spLocks noGrp="1"/>
          </p:cNvSpPr>
          <p:nvPr/>
        </p:nvSpPr>
        <p:spPr>
          <a:xfrm>
            <a:off x="4010025" y="2324100"/>
            <a:ext cx="2914650" cy="381000"/>
          </a:xfrm>
          <a:prstGeom prst="rect">
            <a:avLst/>
          </a:prstGeom>
          <a:noFill/>
          <a:ln w="0">
            <a:noFill/>
          </a:ln>
        </p:spPr>
        <p:txBody>
          <a:bodyPr wrap="square" lIns="0" tIns="0" rIns="0" bIns="0" anchor="t">
            <a:noAutofit/>
          </a:bodyPr>
          <a:lstStyle>
            <a:defPPr algn="l">
              <a:defRPr sz="2175" b="1">
                <a:solidFill>
                  <a:srgbClr val="26231D"/>
                </a:solidFill>
                <a:latin typeface="Cambria"/>
                <a:ea typeface="Cambria"/>
                <a:cs typeface="Cambria"/>
              </a:defRPr>
            </a:defPPr>
          </a:lstStyle>
          <a:p>
            <a:pPr algn="l">
              <a:buNone/>
              <a:defRPr sz="2175" b="1">
                <a:solidFill>
                  <a:srgbClr val="26231D"/>
                </a:solidFill>
                <a:latin typeface="Cambria"/>
                <a:ea typeface="Cambria"/>
                <a:cs typeface="Cambria"/>
              </a:defRPr>
            </a:pPr>
            <a:r>
              <a:rPr sz="2175" b="1">
                <a:solidFill>
                  <a:srgbClr val="26231D"/>
                </a:solidFill>
                <a:latin typeface="Cambria"/>
                <a:ea typeface="Cambria"/>
                <a:cs typeface="Cambria"/>
              </a:rPr>
              <a:t>Python + pandas</a:t>
            </a:r>
          </a:p>
        </p:txBody>
      </p:sp>
      <p:sp>
        <p:nvSpPr>
          <p:cNvPr id="11" name="copy">
            <a:extLst>
              <a:ext uri="{FF2B5EF4-FFF2-40B4-BE49-F238E27FC236}">
                <a16:creationId xmlns:a16="http://schemas.microsoft.com/office/drawing/2014/main" id="{6849E5A8-4337-4E45-923F-8D76A45C3145}"/>
              </a:ext>
            </a:extLst>
          </p:cNvPr>
          <p:cNvSpPr>
            <a:spLocks noGrp="1"/>
          </p:cNvSpPr>
          <p:nvPr/>
        </p:nvSpPr>
        <p:spPr>
          <a:xfrm>
            <a:off x="4010025" y="2762250"/>
            <a:ext cx="2914650" cy="514350"/>
          </a:xfrm>
          <a:prstGeom prst="rect">
            <a:avLst/>
          </a:prstGeom>
          <a:noFill/>
          <a:ln w="0">
            <a:noFill/>
          </a:ln>
        </p:spPr>
        <p:txBody>
          <a:bodyPr wrap="square" lIns="0" tIns="0" rIns="0" bIns="0" anchor="t">
            <a:noAutofit/>
          </a:bodyPr>
          <a:lstStyle>
            <a:defPPr algn="l">
              <a:defRPr sz="1725" b="0">
                <a:solidFill>
                  <a:srgbClr val="26231D"/>
                </a:solidFill>
                <a:latin typeface="Segoe UI"/>
                <a:ea typeface="Segoe UI"/>
                <a:cs typeface="Segoe UI"/>
              </a:defRPr>
            </a:defPPr>
          </a:lstStyle>
          <a:p>
            <a:pPr algn="l">
              <a:buNone/>
              <a:defRPr sz="1725" b="0">
                <a:solidFill>
                  <a:srgbClr val="26231D"/>
                </a:solidFill>
                <a:latin typeface="Segoe UI"/>
                <a:ea typeface="Segoe UI"/>
                <a:cs typeface="Segoe UI"/>
              </a:defRPr>
            </a:pPr>
            <a:r>
              <a:rPr sz="1725" b="0">
                <a:solidFill>
                  <a:srgbClr val="26231D"/>
                </a:solidFill>
                <a:latin typeface="Segoe UI"/>
                <a:ea typeface="Segoe UI"/>
                <a:cs typeface="Segoe UI"/>
              </a:rPr>
              <a:t>Reconstruct evidence</a:t>
            </a:r>
          </a:p>
          <a:p>
            <a:pPr algn="l">
              <a:buNone/>
              <a:defRPr sz="1725" b="0">
                <a:solidFill>
                  <a:srgbClr val="26231D"/>
                </a:solidFill>
                <a:latin typeface="Segoe UI"/>
                <a:ea typeface="Segoe UI"/>
                <a:cs typeface="Segoe UI"/>
              </a:defRPr>
            </a:pPr>
            <a:r>
              <a:rPr sz="1725" b="0">
                <a:solidFill>
                  <a:srgbClr val="26231D"/>
                </a:solidFill>
                <a:latin typeface="Segoe UI"/>
                <a:ea typeface="Segoe UI"/>
                <a:cs typeface="Segoe UI"/>
              </a:rPr>
              <a:t>Apply provisional criteria</a:t>
            </a:r>
          </a:p>
        </p:txBody>
      </p:sp>
      <p:sp>
        <p:nvSpPr>
          <p:cNvPr id="12" name="copy">
            <a:extLst>
              <a:ext uri="{FF2B5EF4-FFF2-40B4-BE49-F238E27FC236}">
                <a16:creationId xmlns:a16="http://schemas.microsoft.com/office/drawing/2014/main" id="{BDF94DFF-3C7B-452E-A6C0-89640D36C61C}"/>
              </a:ext>
            </a:extLst>
          </p:cNvPr>
          <p:cNvSpPr>
            <a:spLocks noGrp="1"/>
          </p:cNvSpPr>
          <p:nvPr/>
        </p:nvSpPr>
        <p:spPr>
          <a:xfrm>
            <a:off x="7991475" y="2324100"/>
            <a:ext cx="3409950" cy="381000"/>
          </a:xfrm>
          <a:prstGeom prst="rect">
            <a:avLst/>
          </a:prstGeom>
          <a:noFill/>
          <a:ln w="0">
            <a:noFill/>
          </a:ln>
        </p:spPr>
        <p:txBody>
          <a:bodyPr wrap="square" lIns="0" tIns="0" rIns="0" bIns="0" anchor="t">
            <a:noAutofit/>
          </a:bodyPr>
          <a:lstStyle>
            <a:defPPr algn="l">
              <a:defRPr sz="2175" b="1">
                <a:solidFill>
                  <a:srgbClr val="26231D"/>
                </a:solidFill>
                <a:latin typeface="Cambria"/>
                <a:ea typeface="Cambria"/>
                <a:cs typeface="Cambria"/>
              </a:defRPr>
            </a:defPPr>
          </a:lstStyle>
          <a:p>
            <a:pPr algn="l">
              <a:buNone/>
              <a:defRPr sz="2175" b="1">
                <a:solidFill>
                  <a:srgbClr val="26231D"/>
                </a:solidFill>
                <a:latin typeface="Cambria"/>
                <a:ea typeface="Cambria"/>
                <a:cs typeface="Cambria"/>
              </a:defRPr>
            </a:pPr>
            <a:r>
              <a:rPr sz="2175" b="1">
                <a:solidFill>
                  <a:srgbClr val="26231D"/>
                </a:solidFill>
                <a:latin typeface="Cambria"/>
                <a:ea typeface="Cambria"/>
                <a:cs typeface="Cambria"/>
              </a:rPr>
              <a:t>FastAPI + Browser</a:t>
            </a:r>
          </a:p>
        </p:txBody>
      </p:sp>
      <p:sp>
        <p:nvSpPr>
          <p:cNvPr id="13" name="copy">
            <a:extLst>
              <a:ext uri="{FF2B5EF4-FFF2-40B4-BE49-F238E27FC236}">
                <a16:creationId xmlns:a16="http://schemas.microsoft.com/office/drawing/2014/main" id="{AA1DA3DE-4022-4C6A-BAE8-5FBC16C393AE}"/>
              </a:ext>
            </a:extLst>
          </p:cNvPr>
          <p:cNvSpPr>
            <a:spLocks noGrp="1"/>
          </p:cNvSpPr>
          <p:nvPr/>
        </p:nvSpPr>
        <p:spPr>
          <a:xfrm>
            <a:off x="7991475" y="2762250"/>
            <a:ext cx="3409950" cy="514350"/>
          </a:xfrm>
          <a:prstGeom prst="rect">
            <a:avLst/>
          </a:prstGeom>
          <a:noFill/>
          <a:ln w="0">
            <a:noFill/>
          </a:ln>
        </p:spPr>
        <p:txBody>
          <a:bodyPr wrap="square" lIns="0" tIns="0" rIns="0" bIns="0" anchor="t">
            <a:noAutofit/>
          </a:bodyPr>
          <a:lstStyle>
            <a:defPPr algn="l">
              <a:defRPr sz="1725" b="0">
                <a:solidFill>
                  <a:srgbClr val="26231D"/>
                </a:solidFill>
                <a:latin typeface="Segoe UI"/>
                <a:ea typeface="Segoe UI"/>
                <a:cs typeface="Segoe UI"/>
              </a:defRPr>
            </a:defPPr>
          </a:lstStyle>
          <a:p>
            <a:pPr algn="l">
              <a:buNone/>
              <a:defRPr sz="1725" b="0">
                <a:solidFill>
                  <a:srgbClr val="26231D"/>
                </a:solidFill>
                <a:latin typeface="Segoe UI"/>
                <a:ea typeface="Segoe UI"/>
                <a:cs typeface="Segoe UI"/>
              </a:defRPr>
            </a:pPr>
            <a:r>
              <a:rPr sz="1725" b="0">
                <a:solidFill>
                  <a:srgbClr val="26231D"/>
                </a:solidFill>
                <a:latin typeface="Segoe UI"/>
                <a:ea typeface="Segoe UI"/>
                <a:cs typeface="Segoe UI"/>
              </a:rPr>
              <a:t>Find candidates; review evidence</a:t>
            </a:r>
          </a:p>
          <a:p>
            <a:pPr algn="l">
              <a:buNone/>
              <a:defRPr sz="1725" b="0">
                <a:solidFill>
                  <a:srgbClr val="26231D"/>
                </a:solidFill>
                <a:latin typeface="Segoe UI"/>
                <a:ea typeface="Segoe UI"/>
                <a:cs typeface="Segoe UI"/>
              </a:defRPr>
            </a:pPr>
            <a:r>
              <a:rPr sz="1725" b="0">
                <a:solidFill>
                  <a:srgbClr val="26231D"/>
                </a:solidFill>
                <a:latin typeface="Segoe UI"/>
                <a:ea typeface="Segoe UI"/>
                <a:cs typeface="Segoe UI"/>
              </a:rPr>
              <a:t>Confirm a breeder decision</a:t>
            </a:r>
          </a:p>
        </p:txBody>
      </p:sp>
      <p:sp>
        <p:nvSpPr>
          <p:cNvPr id="16" name="diagram-node">
            <a:extLst>
              <a:ext uri="{FF2B5EF4-FFF2-40B4-BE49-F238E27FC236}">
                <a16:creationId xmlns:a16="http://schemas.microsoft.com/office/drawing/2014/main" id="{23444630-1CA4-4DFD-AE63-9290D3CBA5EE}"/>
              </a:ext>
            </a:extLst>
          </p:cNvPr>
          <p:cNvSpPr>
            <a:spLocks noGrp="1"/>
          </p:cNvSpPr>
          <p:nvPr/>
        </p:nvSpPr>
        <p:spPr>
          <a:xfrm>
            <a:off x="3829050" y="3876675"/>
            <a:ext cx="3267075" cy="1095375"/>
          </a:xfrm>
          <a:prstGeom prst="rect">
            <a:avLst/>
          </a:prstGeom>
          <a:solidFill>
            <a:srgbClr val="FDFCF9"/>
          </a:solidFill>
          <a:ln w="9525">
            <a:solidFill>
              <a:srgbClr val="E3DED2"/>
            </a:solidFill>
          </a:ln>
        </p:spPr>
        <p:txBody>
          <a:bodyPr/>
          <a:lstStyle/>
          <a:p>
            <a:endParaRPr/>
          </a:p>
        </p:txBody>
      </p:sp>
      <p:sp>
        <p:nvSpPr>
          <p:cNvPr id="17" name="diagram-node">
            <a:extLst>
              <a:ext uri="{FF2B5EF4-FFF2-40B4-BE49-F238E27FC236}">
                <a16:creationId xmlns:a16="http://schemas.microsoft.com/office/drawing/2014/main" id="{72F6F1BA-0B9A-450D-B256-8F8FBC2B4A9C}"/>
              </a:ext>
            </a:extLst>
          </p:cNvPr>
          <p:cNvSpPr>
            <a:spLocks noGrp="1"/>
          </p:cNvSpPr>
          <p:nvPr/>
        </p:nvSpPr>
        <p:spPr>
          <a:xfrm>
            <a:off x="7810500" y="3876675"/>
            <a:ext cx="3771900" cy="1095375"/>
          </a:xfrm>
          <a:prstGeom prst="rect">
            <a:avLst/>
          </a:prstGeom>
          <a:solidFill>
            <a:srgbClr val="FDFCF9"/>
          </a:solidFill>
          <a:ln w="9525">
            <a:solidFill>
              <a:srgbClr val="E3DED2"/>
            </a:solidFill>
          </a:ln>
        </p:spPr>
        <p:txBody>
          <a:bodyPr/>
          <a:lstStyle/>
          <a:p>
            <a:endParaRPr/>
          </a:p>
        </p:txBody>
      </p:sp>
      <p:sp>
        <p:nvSpPr>
          <p:cNvPr id="18" name="copy">
            <a:extLst>
              <a:ext uri="{FF2B5EF4-FFF2-40B4-BE49-F238E27FC236}">
                <a16:creationId xmlns:a16="http://schemas.microsoft.com/office/drawing/2014/main" id="{DEA13864-0666-4CB2-AB3E-D90EE953FAE4}"/>
              </a:ext>
            </a:extLst>
          </p:cNvPr>
          <p:cNvSpPr>
            <a:spLocks noGrp="1"/>
          </p:cNvSpPr>
          <p:nvPr/>
        </p:nvSpPr>
        <p:spPr>
          <a:xfrm>
            <a:off x="4010025" y="4019550"/>
            <a:ext cx="2914650" cy="371475"/>
          </a:xfrm>
          <a:prstGeom prst="rect">
            <a:avLst/>
          </a:prstGeom>
          <a:noFill/>
          <a:ln w="0">
            <a:noFill/>
          </a:ln>
        </p:spPr>
        <p:txBody>
          <a:bodyPr wrap="square" lIns="0" tIns="0" rIns="0" bIns="0" anchor="t">
            <a:noAutofit/>
          </a:bodyPr>
          <a:lstStyle>
            <a:defPPr algn="l">
              <a:defRPr sz="2175" b="1">
                <a:solidFill>
                  <a:srgbClr val="26231D"/>
                </a:solidFill>
                <a:latin typeface="Cambria"/>
                <a:ea typeface="Cambria"/>
                <a:cs typeface="Cambria"/>
              </a:defRPr>
            </a:defPPr>
          </a:lstStyle>
          <a:p>
            <a:pPr algn="l">
              <a:buNone/>
              <a:defRPr sz="2175" b="1">
                <a:solidFill>
                  <a:srgbClr val="26231D"/>
                </a:solidFill>
                <a:latin typeface="Cambria"/>
                <a:ea typeface="Cambria"/>
                <a:cs typeface="Cambria"/>
              </a:defRPr>
            </a:pPr>
            <a:r>
              <a:rPr sz="2175" b="1">
                <a:solidFill>
                  <a:srgbClr val="26231D"/>
                </a:solidFill>
                <a:latin typeface="Cambria"/>
                <a:ea typeface="Cambria"/>
                <a:cs typeface="Cambria"/>
              </a:rPr>
              <a:t>SQLite + Snapshots</a:t>
            </a:r>
          </a:p>
        </p:txBody>
      </p:sp>
      <p:sp>
        <p:nvSpPr>
          <p:cNvPr id="19" name="copy">
            <a:extLst>
              <a:ext uri="{FF2B5EF4-FFF2-40B4-BE49-F238E27FC236}">
                <a16:creationId xmlns:a16="http://schemas.microsoft.com/office/drawing/2014/main" id="{7FDB0133-2D78-4854-A401-402DF97C429B}"/>
              </a:ext>
            </a:extLst>
          </p:cNvPr>
          <p:cNvSpPr>
            <a:spLocks noGrp="1"/>
          </p:cNvSpPr>
          <p:nvPr/>
        </p:nvSpPr>
        <p:spPr>
          <a:xfrm>
            <a:off x="4010025" y="4467225"/>
            <a:ext cx="2914650" cy="495300"/>
          </a:xfrm>
          <a:prstGeom prst="rect">
            <a:avLst/>
          </a:prstGeom>
          <a:noFill/>
          <a:ln w="0">
            <a:noFill/>
          </a:ln>
        </p:spPr>
        <p:txBody>
          <a:bodyPr wrap="square" lIns="0" tIns="0" rIns="0" bIns="0" anchor="t">
            <a:noAutofit/>
          </a:bodyPr>
          <a:lstStyle>
            <a:defPPr algn="l">
              <a:defRPr sz="1725" b="0">
                <a:solidFill>
                  <a:srgbClr val="26231D"/>
                </a:solidFill>
                <a:latin typeface="Segoe UI"/>
                <a:ea typeface="Segoe UI"/>
                <a:cs typeface="Segoe UI"/>
              </a:defRPr>
            </a:defPPr>
          </a:lstStyle>
          <a:p>
            <a:pPr algn="l">
              <a:buNone/>
              <a:defRPr sz="1725" b="0">
                <a:solidFill>
                  <a:srgbClr val="26231D"/>
                </a:solidFill>
                <a:latin typeface="Segoe UI"/>
                <a:ea typeface="Segoe UI"/>
                <a:cs typeface="Segoe UI"/>
              </a:defRPr>
            </a:pPr>
            <a:r>
              <a:rPr sz="1725" b="0">
                <a:solidFill>
                  <a:srgbClr val="26231D"/>
                </a:solidFill>
                <a:latin typeface="Segoe UI"/>
                <a:ea typeface="Segoe UI"/>
                <a:cs typeface="Segoe UI"/>
              </a:rPr>
              <a:t>Decisions, evidence revisions</a:t>
            </a:r>
          </a:p>
          <a:p>
            <a:pPr algn="l">
              <a:buNone/>
              <a:defRPr sz="1725" b="0">
                <a:solidFill>
                  <a:srgbClr val="26231D"/>
                </a:solidFill>
                <a:latin typeface="Segoe UI"/>
                <a:ea typeface="Segoe UI"/>
                <a:cs typeface="Segoe UI"/>
              </a:defRPr>
            </a:pPr>
            <a:r>
              <a:rPr sz="1725" b="0">
                <a:solidFill>
                  <a:srgbClr val="26231D"/>
                </a:solidFill>
                <a:latin typeface="Segoe UI"/>
                <a:ea typeface="Segoe UI"/>
                <a:cs typeface="Segoe UI"/>
              </a:rPr>
              <a:t>and original source context</a:t>
            </a:r>
          </a:p>
        </p:txBody>
      </p:sp>
      <p:sp>
        <p:nvSpPr>
          <p:cNvPr id="20" name="copy">
            <a:extLst>
              <a:ext uri="{FF2B5EF4-FFF2-40B4-BE49-F238E27FC236}">
                <a16:creationId xmlns:a16="http://schemas.microsoft.com/office/drawing/2014/main" id="{5C3FC832-F777-4255-871D-450CAD1C722D}"/>
              </a:ext>
            </a:extLst>
          </p:cNvPr>
          <p:cNvSpPr>
            <a:spLocks noGrp="1"/>
          </p:cNvSpPr>
          <p:nvPr/>
        </p:nvSpPr>
        <p:spPr>
          <a:xfrm>
            <a:off x="7991475" y="4019550"/>
            <a:ext cx="3409950" cy="371475"/>
          </a:xfrm>
          <a:prstGeom prst="rect">
            <a:avLst/>
          </a:prstGeom>
          <a:noFill/>
          <a:ln w="0">
            <a:noFill/>
          </a:ln>
        </p:spPr>
        <p:txBody>
          <a:bodyPr wrap="square" lIns="0" tIns="0" rIns="0" bIns="0" anchor="t">
            <a:noAutofit/>
          </a:bodyPr>
          <a:lstStyle>
            <a:defPPr algn="l">
              <a:defRPr sz="2025" b="1">
                <a:solidFill>
                  <a:srgbClr val="26231D"/>
                </a:solidFill>
                <a:latin typeface="Cambria"/>
                <a:ea typeface="Cambria"/>
                <a:cs typeface="Cambria"/>
              </a:defRPr>
            </a:defPPr>
          </a:lstStyle>
          <a:p>
            <a:pPr algn="l">
              <a:buNone/>
              <a:defRPr sz="2025" b="1">
                <a:solidFill>
                  <a:srgbClr val="26231D"/>
                </a:solidFill>
                <a:latin typeface="Cambria"/>
                <a:ea typeface="Cambria"/>
                <a:cs typeface="Cambria"/>
              </a:defRPr>
            </a:pPr>
            <a:r>
              <a:rPr sz="2025" b="1">
                <a:solidFill>
                  <a:srgbClr val="26231D"/>
                </a:solidFill>
                <a:latin typeface="Cambria"/>
                <a:ea typeface="Cambria"/>
                <a:cs typeface="Cambria"/>
              </a:rPr>
              <a:t>Read-Only MCP + Portkey</a:t>
            </a:r>
          </a:p>
        </p:txBody>
      </p:sp>
      <p:sp>
        <p:nvSpPr>
          <p:cNvPr id="21" name="copy">
            <a:extLst>
              <a:ext uri="{FF2B5EF4-FFF2-40B4-BE49-F238E27FC236}">
                <a16:creationId xmlns:a16="http://schemas.microsoft.com/office/drawing/2014/main" id="{CB03972B-EAC7-4825-9DEB-53140CC55058}"/>
              </a:ext>
            </a:extLst>
          </p:cNvPr>
          <p:cNvSpPr>
            <a:spLocks noGrp="1"/>
          </p:cNvSpPr>
          <p:nvPr/>
        </p:nvSpPr>
        <p:spPr>
          <a:xfrm>
            <a:off x="7991475" y="4467225"/>
            <a:ext cx="3409950" cy="495300"/>
          </a:xfrm>
          <a:prstGeom prst="rect">
            <a:avLst/>
          </a:prstGeom>
          <a:noFill/>
          <a:ln w="0">
            <a:noFill/>
          </a:ln>
        </p:spPr>
        <p:txBody>
          <a:bodyPr wrap="square" lIns="0" tIns="0" rIns="0" bIns="0" anchor="t">
            <a:noAutofit/>
          </a:bodyPr>
          <a:lstStyle>
            <a:defPPr algn="l">
              <a:defRPr sz="1725" b="0">
                <a:solidFill>
                  <a:srgbClr val="26231D"/>
                </a:solidFill>
                <a:latin typeface="Segoe UI"/>
                <a:ea typeface="Segoe UI"/>
                <a:cs typeface="Segoe UI"/>
              </a:defRPr>
            </a:defPPr>
          </a:lstStyle>
          <a:p>
            <a:pPr algn="l">
              <a:buNone/>
              <a:defRPr sz="1725" b="0">
                <a:solidFill>
                  <a:srgbClr val="26231D"/>
                </a:solidFill>
                <a:latin typeface="Segoe UI"/>
                <a:ea typeface="Segoe UI"/>
                <a:cs typeface="Segoe UI"/>
              </a:defRPr>
            </a:pPr>
            <a:r>
              <a:rPr sz="1725" b="0">
                <a:solidFill>
                  <a:srgbClr val="26231D"/>
                </a:solidFill>
                <a:latin typeface="Segoe UI"/>
                <a:ea typeface="Segoe UI"/>
                <a:cs typeface="Segoe UI"/>
              </a:rPr>
              <a:t>Cited Ask + editable filter previews</a:t>
            </a:r>
          </a:p>
          <a:p>
            <a:pPr algn="l">
              <a:buNone/>
              <a:defRPr sz="1725" b="0">
                <a:solidFill>
                  <a:srgbClr val="26231D"/>
                </a:solidFill>
                <a:latin typeface="Segoe UI"/>
                <a:ea typeface="Segoe UI"/>
                <a:cs typeface="Segoe UI"/>
              </a:defRPr>
            </a:pPr>
            <a:r>
              <a:rPr sz="1725" b="0">
                <a:solidFill>
                  <a:srgbClr val="26231D"/>
                </a:solidFill>
                <a:latin typeface="Segoe UI"/>
                <a:ea typeface="Segoe UI"/>
                <a:cs typeface="Segoe UI"/>
              </a:rPr>
              <a:t>User explicitly applies filters</a:t>
            </a:r>
          </a:p>
        </p:txBody>
      </p:sp>
      <p:sp>
        <p:nvSpPr>
          <p:cNvPr id="24" name="copy">
            <a:extLst>
              <a:ext uri="{FF2B5EF4-FFF2-40B4-BE49-F238E27FC236}">
                <a16:creationId xmlns:a16="http://schemas.microsoft.com/office/drawing/2014/main" id="{912195A9-04A4-44E8-AB6A-01A400196BE5}"/>
              </a:ext>
            </a:extLst>
          </p:cNvPr>
          <p:cNvSpPr>
            <a:spLocks noGrp="1"/>
          </p:cNvSpPr>
          <p:nvPr/>
        </p:nvSpPr>
        <p:spPr>
          <a:xfrm>
            <a:off x="609600" y="3876675"/>
            <a:ext cx="2514600" cy="371475"/>
          </a:xfrm>
          <a:prstGeom prst="rect">
            <a:avLst/>
          </a:prstGeom>
          <a:noFill/>
          <a:ln w="0">
            <a:noFill/>
          </a:ln>
        </p:spPr>
        <p:txBody>
          <a:bodyPr wrap="square" lIns="0" tIns="0" rIns="0" bIns="0" anchor="t">
            <a:noAutofit/>
          </a:bodyPr>
          <a:lstStyle>
            <a:defPPr algn="l">
              <a:defRPr sz="2175" b="1">
                <a:solidFill>
                  <a:srgbClr val="26231D"/>
                </a:solidFill>
                <a:latin typeface="Cambria"/>
                <a:ea typeface="Cambria"/>
                <a:cs typeface="Cambria"/>
              </a:defRPr>
            </a:defPPr>
          </a:lstStyle>
          <a:p>
            <a:pPr algn="l">
              <a:buNone/>
              <a:defRPr sz="2175" b="1">
                <a:solidFill>
                  <a:srgbClr val="26231D"/>
                </a:solidFill>
                <a:latin typeface="Cambria"/>
                <a:ea typeface="Cambria"/>
                <a:cs typeface="Cambria"/>
              </a:defRPr>
            </a:pPr>
            <a:r>
              <a:rPr sz="2175" b="1">
                <a:solidFill>
                  <a:srgbClr val="26231D"/>
                </a:solidFill>
                <a:latin typeface="Cambria"/>
                <a:ea typeface="Cambria"/>
                <a:cs typeface="Cambria"/>
              </a:rPr>
              <a:t>Breeder control</a:t>
            </a:r>
          </a:p>
        </p:txBody>
      </p:sp>
      <p:sp>
        <p:nvSpPr>
          <p:cNvPr id="25" name="copy">
            <a:extLst>
              <a:ext uri="{FF2B5EF4-FFF2-40B4-BE49-F238E27FC236}">
                <a16:creationId xmlns:a16="http://schemas.microsoft.com/office/drawing/2014/main" id="{045CD804-1907-42A8-8298-72D9E2CFC31C}"/>
              </a:ext>
            </a:extLst>
          </p:cNvPr>
          <p:cNvSpPr>
            <a:spLocks noGrp="1"/>
          </p:cNvSpPr>
          <p:nvPr/>
        </p:nvSpPr>
        <p:spPr>
          <a:xfrm>
            <a:off x="609600" y="4343400"/>
            <a:ext cx="2514600" cy="914400"/>
          </a:xfrm>
          <a:prstGeom prst="rect">
            <a:avLst/>
          </a:prstGeom>
          <a:noFill/>
          <a:ln w="0">
            <a:noFill/>
          </a:ln>
        </p:spPr>
        <p:txBody>
          <a:bodyPr wrap="square" lIns="0" tIns="0" rIns="0" bIns="0" anchor="t">
            <a:noAutofit/>
          </a:bodyPr>
          <a:lstStyle>
            <a:defPPr algn="l">
              <a:defRPr sz="1800" b="0">
                <a:solidFill>
                  <a:srgbClr val="26231D"/>
                </a:solidFill>
                <a:latin typeface="Segoe UI"/>
                <a:ea typeface="Segoe UI"/>
                <a:cs typeface="Segoe UI"/>
              </a:defRPr>
            </a:defPPr>
          </a:lstStyle>
          <a:p>
            <a:pPr algn="l">
              <a:buNone/>
              <a:defRPr sz="1800" b="0">
                <a:solidFill>
                  <a:srgbClr val="26231D"/>
                </a:solidFill>
                <a:latin typeface="Segoe UI"/>
                <a:ea typeface="Segoe UI"/>
                <a:cs typeface="Segoe UI"/>
              </a:defRPr>
            </a:pPr>
            <a:r>
              <a:rPr sz="1800" b="0">
                <a:solidFill>
                  <a:srgbClr val="26231D"/>
                </a:solidFill>
                <a:latin typeface="Segoe UI"/>
                <a:ea typeface="Segoe UI"/>
                <a:cs typeface="Segoe UI"/>
              </a:rPr>
              <a:t>Review → Confirm</a:t>
            </a:r>
          </a:p>
          <a:p>
            <a:pPr algn="l">
              <a:buNone/>
              <a:defRPr sz="1800" b="0">
                <a:solidFill>
                  <a:srgbClr val="26231D"/>
                </a:solidFill>
                <a:latin typeface="Segoe UI"/>
                <a:ea typeface="Segoe UI"/>
                <a:cs typeface="Segoe UI"/>
              </a:defRPr>
            </a:pPr>
            <a:r>
              <a:rPr sz="1800" b="0">
                <a:solidFill>
                  <a:srgbClr val="26231D"/>
                </a:solidFill>
                <a:latin typeface="Segoe UI"/>
                <a:ea typeface="Segoe UI"/>
                <a:cs typeface="Segoe UI"/>
              </a:rPr>
              <a:t>Each change keeps</a:t>
            </a:r>
          </a:p>
          <a:p>
            <a:pPr algn="l">
              <a:buNone/>
              <a:defRPr sz="1800" b="0">
                <a:solidFill>
                  <a:srgbClr val="26231D"/>
                </a:solidFill>
                <a:latin typeface="Segoe UI"/>
                <a:ea typeface="Segoe UI"/>
                <a:cs typeface="Segoe UI"/>
              </a:defRPr>
            </a:pPr>
            <a:r>
              <a:rPr sz="1800" b="0">
                <a:solidFill>
                  <a:srgbClr val="26231D"/>
                </a:solidFill>
                <a:latin typeface="Segoe UI"/>
                <a:ea typeface="Segoe UI"/>
                <a:cs typeface="Segoe UI"/>
              </a:rPr>
              <a:t>its rationale and history</a:t>
            </a:r>
          </a:p>
        </p:txBody>
      </p:sp>
      <p:sp>
        <p:nvSpPr>
          <p:cNvPr id="27" name="copy">
            <a:extLst>
              <a:ext uri="{FF2B5EF4-FFF2-40B4-BE49-F238E27FC236}">
                <a16:creationId xmlns:a16="http://schemas.microsoft.com/office/drawing/2014/main" id="{25872236-3881-44DD-965D-D25E9F4F4155}"/>
              </a:ext>
            </a:extLst>
          </p:cNvPr>
          <p:cNvSpPr>
            <a:spLocks noGrp="1"/>
          </p:cNvSpPr>
          <p:nvPr/>
        </p:nvSpPr>
        <p:spPr>
          <a:xfrm>
            <a:off x="609600" y="6086475"/>
            <a:ext cx="10972800" cy="304800"/>
          </a:xfrm>
          <a:prstGeom prst="rect">
            <a:avLst/>
          </a:prstGeom>
          <a:noFill/>
          <a:ln w="0">
            <a:noFill/>
          </a:ln>
        </p:spPr>
        <p:txBody>
          <a:bodyPr wrap="square" lIns="0" tIns="0" rIns="0" bIns="0" anchor="t">
            <a:noAutofit/>
          </a:bodyPr>
          <a:lstStyle>
            <a:defPPr algn="l">
              <a:defRPr sz="1575" b="0">
                <a:solidFill>
                  <a:srgbClr val="7A7466"/>
                </a:solidFill>
                <a:latin typeface="Segoe UI"/>
                <a:ea typeface="Segoe UI"/>
                <a:cs typeface="Segoe UI"/>
              </a:defRPr>
            </a:defPPr>
          </a:lstStyle>
          <a:p>
            <a:pPr algn="l">
              <a:buNone/>
              <a:defRPr sz="1575" b="0">
                <a:solidFill>
                  <a:srgbClr val="7A7466"/>
                </a:solidFill>
                <a:latin typeface="Segoe UI"/>
                <a:ea typeface="Segoe UI"/>
                <a:cs typeface="Segoe UI"/>
              </a:defRPr>
            </a:pPr>
            <a:r>
              <a:rPr sz="1575" b="0">
                <a:solidFill>
                  <a:srgbClr val="7A7466"/>
                </a:solidFill>
                <a:latin typeface="Segoe UI"/>
                <a:ea typeface="Segoe UI"/>
                <a:cs typeface="Segoe UI"/>
              </a:rPr>
              <a:t>The breeder reviews and confirms each decision. History preserves its assessment and evidence.</a:t>
            </a:r>
          </a:p>
        </p:txBody>
      </p:sp>
    </p:spTree>
    <p:extLst>
      <p:ext uri="{BB962C8B-B14F-4D97-AF65-F5344CB8AC3E}">
        <p14:creationId xmlns:p14="http://schemas.microsoft.com/office/powerpoint/2010/main" val="1416424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543F1C38-9FB0-45A5-83F0-763B3E794F71}"/>
              </a:ext>
            </a:extLst>
          </p:cNvPr>
          <p:cNvSpPr>
            <a:spLocks noGrp="1"/>
          </p:cNvSpPr>
          <p:nvPr/>
        </p:nvSpPr>
        <p:spPr>
          <a:xfrm>
            <a:off x="609600" y="1638300"/>
            <a:ext cx="10972800" cy="1123950"/>
          </a:xfrm>
          <a:prstGeom prst="rect">
            <a:avLst/>
          </a:prstGeom>
          <a:noFill/>
          <a:ln w="0">
            <a:noFill/>
          </a:ln>
        </p:spPr>
        <p:txBody>
          <a:bodyPr wrap="square" lIns="0" tIns="0" rIns="0" bIns="0" anchor="t">
            <a:noAutofit/>
          </a:bodyPr>
          <a:lstStyle>
            <a:defPPr algn="ctr">
              <a:defRPr sz="6600" b="0">
                <a:solidFill>
                  <a:srgbClr val="26231D"/>
                </a:solidFill>
                <a:latin typeface="Cambria"/>
                <a:ea typeface="Cambria"/>
                <a:cs typeface="Cambria"/>
              </a:defRPr>
            </a:defPPr>
          </a:lstStyle>
          <a:p>
            <a:pPr algn="ctr">
              <a:defRPr sz="6600" b="0">
                <a:solidFill>
                  <a:srgbClr val="26231D"/>
                </a:solidFill>
                <a:latin typeface="Cambria"/>
                <a:ea typeface="Cambria"/>
                <a:cs typeface="Cambria"/>
              </a:defRPr>
            </a:pPr>
            <a:r>
              <a:rPr sz="6600" b="0">
                <a:solidFill>
                  <a:srgbClr val="26231D"/>
                </a:solidFill>
                <a:latin typeface="Cambria"/>
                <a:ea typeface="Cambria"/>
                <a:cs typeface="Cambria"/>
              </a:rPr>
              <a:t>Demo</a:t>
            </a:r>
          </a:p>
        </p:txBody>
      </p:sp>
      <p:sp>
        <p:nvSpPr>
          <p:cNvPr id="2" name="demo-divider">
            <a:extLst>
              <a:ext uri="{FF2B5EF4-FFF2-40B4-BE49-F238E27FC236}">
                <a16:creationId xmlns:a16="http://schemas.microsoft.com/office/drawing/2014/main" id="{6D26AFDB-88D4-41CA-B006-AFCB804A0B7B}"/>
              </a:ext>
            </a:extLst>
          </p:cNvPr>
          <p:cNvSpPr>
            <a:spLocks noGrp="1"/>
          </p:cNvSpPr>
          <p:nvPr/>
        </p:nvSpPr>
        <p:spPr>
          <a:xfrm>
            <a:off x="5676900" y="3000375"/>
            <a:ext cx="838200" cy="19050"/>
          </a:xfrm>
          <a:prstGeom prst="rect">
            <a:avLst/>
          </a:prstGeom>
          <a:solidFill>
            <a:srgbClr val="7A7466"/>
          </a:solidFill>
          <a:ln w="0">
            <a:noFill/>
          </a:ln>
        </p:spPr>
        <p:txBody>
          <a:bodyPr/>
          <a:lstStyle/>
          <a:p>
            <a:endParaRPr lang="pt-BR"/>
          </a:p>
        </p:txBody>
      </p:sp>
      <p:sp>
        <p:nvSpPr>
          <p:cNvPr id="3" name="stakeholder-copy">
            <a:extLst>
              <a:ext uri="{FF2B5EF4-FFF2-40B4-BE49-F238E27FC236}">
                <a16:creationId xmlns:a16="http://schemas.microsoft.com/office/drawing/2014/main" id="{4CE83EE8-E8F6-4D3D-980D-EA988E71140D}"/>
              </a:ext>
            </a:extLst>
          </p:cNvPr>
          <p:cNvSpPr>
            <a:spLocks noGrp="1"/>
          </p:cNvSpPr>
          <p:nvPr/>
        </p:nvSpPr>
        <p:spPr>
          <a:xfrm>
            <a:off x="609600" y="3333750"/>
            <a:ext cx="10972800" cy="657225"/>
          </a:xfrm>
          <a:prstGeom prst="rect">
            <a:avLst/>
          </a:prstGeom>
          <a:noFill/>
          <a:ln w="0">
            <a:noFill/>
          </a:ln>
        </p:spPr>
        <p:txBody>
          <a:bodyPr wrap="square" lIns="0" tIns="0" rIns="0" bIns="0" anchor="t">
            <a:noAutofit/>
          </a:bodyPr>
          <a:lstStyle>
            <a:defPPr algn="ctr">
              <a:defRPr sz="2850" b="0">
                <a:solidFill>
                  <a:srgbClr val="26231D"/>
                </a:solidFill>
                <a:latin typeface="Cambria"/>
                <a:ea typeface="Cambria"/>
                <a:cs typeface="Cambria"/>
              </a:defRPr>
            </a:defPPr>
          </a:lstStyle>
          <a:p>
            <a:pPr algn="ctr">
              <a:defRPr sz="2850" b="0">
                <a:solidFill>
                  <a:srgbClr val="26231D"/>
                </a:solidFill>
                <a:latin typeface="Cambria"/>
                <a:ea typeface="Cambria"/>
                <a:cs typeface="Cambria"/>
              </a:defRPr>
            </a:pPr>
            <a:r>
              <a:rPr sz="2850" b="0">
                <a:solidFill>
                  <a:srgbClr val="26231D"/>
                </a:solidFill>
                <a:latin typeface="Cambria"/>
                <a:ea typeface="Cambria"/>
                <a:cs typeface="Cambria"/>
              </a:rPr>
              <a:t>UC4 Breeder Assistant</a:t>
            </a:r>
          </a:p>
        </p:txBody>
      </p:sp>
      <p:sp>
        <p:nvSpPr>
          <p:cNvPr id="4" name="stakeholder-copy">
            <a:extLst>
              <a:ext uri="{FF2B5EF4-FFF2-40B4-BE49-F238E27FC236}">
                <a16:creationId xmlns:a16="http://schemas.microsoft.com/office/drawing/2014/main" id="{1A466C84-8561-41AD-974D-330A29D16DB8}"/>
              </a:ext>
            </a:extLst>
          </p:cNvPr>
          <p:cNvSpPr>
            <a:spLocks noGrp="1"/>
          </p:cNvSpPr>
          <p:nvPr/>
        </p:nvSpPr>
        <p:spPr>
          <a:xfrm>
            <a:off x="609600" y="4191000"/>
            <a:ext cx="10972800" cy="533400"/>
          </a:xfrm>
          <a:prstGeom prst="rect">
            <a:avLst/>
          </a:prstGeom>
          <a:noFill/>
          <a:ln w="0">
            <a:noFill/>
          </a:ln>
        </p:spPr>
        <p:txBody>
          <a:bodyPr wrap="square" lIns="0" tIns="0" rIns="0" bIns="0" anchor="t">
            <a:noAutofit/>
          </a:bodyPr>
          <a:lstStyle>
            <a:defPPr algn="ctr">
              <a:defRPr sz="2025" b="1">
                <a:solidFill>
                  <a:srgbClr val="26231D"/>
                </a:solidFill>
                <a:latin typeface="Segoe UI"/>
                <a:ea typeface="Segoe UI"/>
                <a:cs typeface="Segoe UI"/>
              </a:defRPr>
            </a:defPPr>
          </a:lstStyle>
          <a:p>
            <a:pPr algn="ctr">
              <a:defRPr sz="2025" b="1">
                <a:solidFill>
                  <a:srgbClr val="26231D"/>
                </a:solidFill>
                <a:latin typeface="Segoe UI"/>
                <a:ea typeface="Segoe UI"/>
                <a:cs typeface="Segoe UI"/>
              </a:defRPr>
            </a:pPr>
            <a:r>
              <a:rPr sz="2025" b="1">
                <a:solidFill>
                  <a:srgbClr val="26231D"/>
                </a:solidFill>
                <a:latin typeface="Segoe UI"/>
                <a:ea typeface="Segoe UI"/>
                <a:cs typeface="Segoe UI"/>
              </a:rPr>
              <a:t>Inspect evidence, make a decision and preserve its rationale.</a:t>
            </a:r>
          </a:p>
        </p:txBody>
      </p:sp>
      <p:sp>
        <p:nvSpPr>
          <p:cNvPr id="5" name="stakeholder-copy">
            <a:extLst>
              <a:ext uri="{FF2B5EF4-FFF2-40B4-BE49-F238E27FC236}">
                <a16:creationId xmlns:a16="http://schemas.microsoft.com/office/drawing/2014/main" id="{2D3A716C-2A77-48EF-A855-C8EFF3EFCD3B}"/>
              </a:ext>
            </a:extLst>
          </p:cNvPr>
          <p:cNvSpPr>
            <a:spLocks noGrp="1"/>
          </p:cNvSpPr>
          <p:nvPr/>
        </p:nvSpPr>
        <p:spPr>
          <a:xfrm>
            <a:off x="609600" y="4876800"/>
            <a:ext cx="10972800" cy="400050"/>
          </a:xfrm>
          <a:prstGeom prst="rect">
            <a:avLst/>
          </a:prstGeom>
          <a:noFill/>
          <a:ln w="0">
            <a:noFill/>
          </a:ln>
        </p:spPr>
        <p:txBody>
          <a:bodyPr wrap="square" lIns="0" tIns="0" rIns="0" bIns="0" anchor="t">
            <a:noAutofit/>
          </a:bodyPr>
          <a:lstStyle>
            <a:defPPr algn="ctr">
              <a:defRPr sz="1650" b="0">
                <a:solidFill>
                  <a:srgbClr val="7A7466"/>
                </a:solidFill>
                <a:latin typeface="Segoe UI"/>
                <a:ea typeface="Segoe UI"/>
                <a:cs typeface="Segoe UI"/>
              </a:defRPr>
            </a:defPPr>
          </a:lstStyle>
          <a:p>
            <a:pPr algn="ctr">
              <a:defRPr sz="1650" b="0">
                <a:solidFill>
                  <a:srgbClr val="7A7466"/>
                </a:solidFill>
                <a:latin typeface="Segoe UI"/>
                <a:ea typeface="Segoe UI"/>
                <a:cs typeface="Segoe UI"/>
              </a:defRPr>
            </a:pPr>
            <a:r>
              <a:rPr sz="1650" b="0">
                <a:solidFill>
                  <a:srgbClr val="7A7466"/>
                </a:solidFill>
                <a:latin typeface="Segoe UI"/>
                <a:ea typeface="Segoe UI"/>
                <a:cs typeface="Segoe UI"/>
              </a:rPr>
              <a:t>Provisional assessment · Cited explanation · Breeder control</a:t>
            </a:r>
          </a:p>
        </p:txBody>
      </p:sp>
    </p:spTree>
    <p:extLst>
      <p:ext uri="{BB962C8B-B14F-4D97-AF65-F5344CB8AC3E}">
        <p14:creationId xmlns:p14="http://schemas.microsoft.com/office/powerpoint/2010/main" val="1119047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D8B15710-DE04-4433-85C4-66FC700A1B6B}"/>
              </a:ext>
            </a:extLst>
          </p:cNvPr>
          <p:cNvSpPr>
            <a:spLocks noGrp="1"/>
          </p:cNvSpPr>
          <p:nvPr/>
        </p:nvSpPr>
        <p:spPr>
          <a:xfrm>
            <a:off x="609600" y="400050"/>
            <a:ext cx="10972800" cy="742950"/>
          </a:xfrm>
          <a:prstGeom prst="rect">
            <a:avLst/>
          </a:prstGeom>
          <a:noFill/>
          <a:ln w="0">
            <a:noFill/>
          </a:ln>
        </p:spPr>
        <p:txBody>
          <a:bodyPr wrap="square" lIns="0" tIns="0" rIns="0" bIns="0" anchor="t">
            <a:noAutofit/>
          </a:bodyPr>
          <a:lstStyle>
            <a:defPPr algn="l">
              <a:defRPr sz="3450" b="1">
                <a:solidFill>
                  <a:srgbClr val="26231D"/>
                </a:solidFill>
                <a:latin typeface="Cambria"/>
                <a:ea typeface="Cambria"/>
                <a:cs typeface="Cambria"/>
              </a:defRPr>
            </a:defPPr>
          </a:lstStyle>
          <a:p>
            <a:pPr algn="l">
              <a:defRPr sz="3450" b="1">
                <a:solidFill>
                  <a:srgbClr val="26231D"/>
                </a:solidFill>
                <a:latin typeface="Cambria"/>
                <a:ea typeface="Cambria"/>
                <a:cs typeface="Cambria"/>
              </a:defRPr>
            </a:pPr>
            <a:r>
              <a:rPr sz="3450" b="1">
                <a:solidFill>
                  <a:srgbClr val="26231D"/>
                </a:solidFill>
                <a:latin typeface="Cambria"/>
                <a:ea typeface="Cambria"/>
                <a:cs typeface="Cambria"/>
              </a:rPr>
              <a:t>Value And Scalability</a:t>
            </a:r>
          </a:p>
        </p:txBody>
      </p:sp>
      <p:sp>
        <p:nvSpPr>
          <p:cNvPr id="2" name="stakeholder-copy">
            <a:extLst>
              <a:ext uri="{FF2B5EF4-FFF2-40B4-BE49-F238E27FC236}">
                <a16:creationId xmlns:a16="http://schemas.microsoft.com/office/drawing/2014/main" id="{D8CB511D-9F74-41C2-8F83-B7B3380AA00D}"/>
              </a:ext>
            </a:extLst>
          </p:cNvPr>
          <p:cNvSpPr>
            <a:spLocks noGrp="1"/>
          </p:cNvSpPr>
          <p:nvPr/>
        </p:nvSpPr>
        <p:spPr>
          <a:xfrm>
            <a:off x="609600" y="1257300"/>
            <a:ext cx="10972800" cy="571500"/>
          </a:xfrm>
          <a:prstGeom prst="rect">
            <a:avLst/>
          </a:prstGeom>
          <a:noFill/>
          <a:ln w="0">
            <a:noFill/>
          </a:ln>
        </p:spPr>
        <p:txBody>
          <a:bodyPr wrap="square" lIns="0" tIns="0" rIns="0" bIns="0" anchor="t">
            <a:noAutofit/>
          </a:bodyPr>
          <a:lstStyle>
            <a:defPPr algn="l">
              <a:defRPr sz="1725" b="0">
                <a:solidFill>
                  <a:srgbClr val="7A7466"/>
                </a:solidFill>
                <a:latin typeface="Segoe UI"/>
                <a:ea typeface="Segoe UI"/>
                <a:cs typeface="Segoe UI"/>
              </a:defRPr>
            </a:defPPr>
          </a:lstStyle>
          <a:p>
            <a:pPr algn="l">
              <a:defRPr sz="1725" b="0">
                <a:solidFill>
                  <a:srgbClr val="7A7466"/>
                </a:solidFill>
                <a:latin typeface="Segoe UI"/>
                <a:ea typeface="Segoe UI"/>
                <a:cs typeface="Segoe UI"/>
              </a:defRPr>
            </a:pPr>
            <a:r>
              <a:rPr sz="1725" b="0">
                <a:solidFill>
                  <a:srgbClr val="7A7466"/>
                </a:solidFill>
                <a:latin typeface="Segoe UI"/>
                <a:ea typeface="Segoe UI"/>
                <a:cs typeface="Segoe UI"/>
              </a:rPr>
              <a:t>A breeder-reviewed pilot is the next step</a:t>
            </a:r>
          </a:p>
        </p:txBody>
      </p:sp>
      <p:sp>
        <p:nvSpPr>
          <p:cNvPr id="3" name="stakeholder-copy">
            <a:extLst>
              <a:ext uri="{FF2B5EF4-FFF2-40B4-BE49-F238E27FC236}">
                <a16:creationId xmlns:a16="http://schemas.microsoft.com/office/drawing/2014/main" id="{7A0BEED9-A4C0-469E-9055-785FD26F5C65}"/>
              </a:ext>
            </a:extLst>
          </p:cNvPr>
          <p:cNvSpPr>
            <a:spLocks noGrp="1"/>
          </p:cNvSpPr>
          <p:nvPr/>
        </p:nvSpPr>
        <p:spPr>
          <a:xfrm>
            <a:off x="609600" y="6419850"/>
            <a:ext cx="8286750" cy="247650"/>
          </a:xfrm>
          <a:prstGeom prst="rect">
            <a:avLst/>
          </a:prstGeom>
          <a:noFill/>
          <a:ln w="0">
            <a:noFill/>
          </a:ln>
        </p:spPr>
        <p:txBody>
          <a:bodyPr wrap="square" lIns="0" tIns="0" rIns="0" bIns="0" anchor="t">
            <a:noAutofit/>
          </a:bodyPr>
          <a:lstStyle>
            <a:defPPr algn="l">
              <a:defRPr sz="1125" b="0">
                <a:solidFill>
                  <a:srgbClr val="7A7466"/>
                </a:solidFill>
                <a:latin typeface="Segoe UI"/>
                <a:ea typeface="Segoe UI"/>
                <a:cs typeface="Segoe UI"/>
              </a:defRPr>
            </a:defPPr>
          </a:lstStyle>
          <a:p>
            <a:pPr algn="l">
              <a:defRPr sz="1125" b="0">
                <a:solidFill>
                  <a:srgbClr val="7A7466"/>
                </a:solidFill>
                <a:latin typeface="Segoe UI"/>
                <a:ea typeface="Segoe UI"/>
                <a:cs typeface="Segoe UI"/>
              </a:defRPr>
            </a:pPr>
            <a:r>
              <a:rPr sz="1125" b="0">
                <a:solidFill>
                  <a:srgbClr val="7A7466"/>
                </a:solidFill>
                <a:latin typeface="Segoe UI"/>
                <a:ea typeface="Segoe UI"/>
                <a:cs typeface="Segoe UI"/>
              </a:rPr>
              <a:t>Case 4 · October 2, 2026 · 5 / 5</a:t>
            </a:r>
          </a:p>
        </p:txBody>
      </p:sp>
      <p:sp>
        <p:nvSpPr>
          <p:cNvPr id="4" name="stakeholder-copy">
            <a:extLst>
              <a:ext uri="{FF2B5EF4-FFF2-40B4-BE49-F238E27FC236}">
                <a16:creationId xmlns:a16="http://schemas.microsoft.com/office/drawing/2014/main" id="{E50D45B9-F7DE-4643-88CF-24726F3F3132}"/>
              </a:ext>
            </a:extLst>
          </p:cNvPr>
          <p:cNvSpPr>
            <a:spLocks noGrp="1"/>
          </p:cNvSpPr>
          <p:nvPr/>
        </p:nvSpPr>
        <p:spPr>
          <a:xfrm>
            <a:off x="609600" y="2190750"/>
            <a:ext cx="5543550" cy="457200"/>
          </a:xfrm>
          <a:prstGeom prst="rect">
            <a:avLst/>
          </a:prstGeom>
          <a:noFill/>
          <a:ln w="0">
            <a:noFill/>
          </a:ln>
        </p:spPr>
        <p:txBody>
          <a:bodyPr wrap="square" lIns="0" tIns="0" rIns="0" bIns="0" anchor="t">
            <a:noAutofit/>
          </a:bodyPr>
          <a:lstStyle>
            <a:defPPr algn="l">
              <a:defRPr sz="2325" b="1">
                <a:solidFill>
                  <a:srgbClr val="26231D"/>
                </a:solidFill>
                <a:latin typeface="Cambria"/>
                <a:ea typeface="Cambria"/>
                <a:cs typeface="Cambria"/>
              </a:defRPr>
            </a:defPPr>
          </a:lstStyle>
          <a:p>
            <a:pPr algn="l">
              <a:defRPr sz="2325" b="1">
                <a:solidFill>
                  <a:srgbClr val="26231D"/>
                </a:solidFill>
                <a:latin typeface="Cambria"/>
                <a:ea typeface="Cambria"/>
                <a:cs typeface="Cambria"/>
              </a:defRPr>
            </a:pPr>
            <a:r>
              <a:rPr sz="2325" b="1">
                <a:solidFill>
                  <a:srgbClr val="26231D"/>
                </a:solidFill>
                <a:latin typeface="Cambria"/>
                <a:ea typeface="Cambria"/>
                <a:cs typeface="Cambria"/>
              </a:rPr>
              <a:t>Intended value</a:t>
            </a:r>
          </a:p>
        </p:txBody>
      </p:sp>
      <p:sp>
        <p:nvSpPr>
          <p:cNvPr id="5" name="stakeholder-copy">
            <a:extLst>
              <a:ext uri="{FF2B5EF4-FFF2-40B4-BE49-F238E27FC236}">
                <a16:creationId xmlns:a16="http://schemas.microsoft.com/office/drawing/2014/main" id="{3E9A0583-64E6-44DE-BC9B-0832AA521263}"/>
              </a:ext>
            </a:extLst>
          </p:cNvPr>
          <p:cNvSpPr>
            <a:spLocks noGrp="1"/>
          </p:cNvSpPr>
          <p:nvPr/>
        </p:nvSpPr>
        <p:spPr>
          <a:xfrm>
            <a:off x="609600" y="2762250"/>
            <a:ext cx="5543550" cy="1162050"/>
          </a:xfrm>
          <a:prstGeom prst="rect">
            <a:avLst/>
          </a:prstGeom>
          <a:noFill/>
          <a:ln w="0">
            <a:noFill/>
          </a:ln>
        </p:spPr>
        <p:txBody>
          <a:bodyPr wrap="square" lIns="0" tIns="0" rIns="0" bIns="0" anchor="t">
            <a:noAutofit/>
          </a:bodyPr>
          <a:lstStyle>
            <a:defPPr algn="l">
              <a:defRPr sz="1950" b="0">
                <a:solidFill>
                  <a:srgbClr val="26231D"/>
                </a:solidFill>
                <a:latin typeface="Segoe UI"/>
                <a:ea typeface="Segoe UI"/>
                <a:cs typeface="Segoe UI"/>
              </a:defRPr>
            </a:defPPr>
          </a:lstStyle>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Less cross-file lookup</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Clearer decision rationale</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Breeder-controlled, data-driven choices</a:t>
            </a:r>
          </a:p>
        </p:txBody>
      </p:sp>
      <p:sp>
        <p:nvSpPr>
          <p:cNvPr id="6" name="stakeholder-copy">
            <a:extLst>
              <a:ext uri="{FF2B5EF4-FFF2-40B4-BE49-F238E27FC236}">
                <a16:creationId xmlns:a16="http://schemas.microsoft.com/office/drawing/2014/main" id="{87BDB44E-B37F-4347-8F75-810BE889F911}"/>
              </a:ext>
            </a:extLst>
          </p:cNvPr>
          <p:cNvSpPr>
            <a:spLocks noGrp="1"/>
          </p:cNvSpPr>
          <p:nvPr/>
        </p:nvSpPr>
        <p:spPr>
          <a:xfrm>
            <a:off x="6896100" y="2190750"/>
            <a:ext cx="4686300" cy="457200"/>
          </a:xfrm>
          <a:prstGeom prst="rect">
            <a:avLst/>
          </a:prstGeom>
          <a:noFill/>
          <a:ln w="0">
            <a:noFill/>
          </a:ln>
        </p:spPr>
        <p:txBody>
          <a:bodyPr wrap="square" lIns="0" tIns="0" rIns="0" bIns="0" anchor="t">
            <a:noAutofit/>
          </a:bodyPr>
          <a:lstStyle>
            <a:defPPr algn="l">
              <a:defRPr sz="2325" b="1">
                <a:solidFill>
                  <a:srgbClr val="26231D"/>
                </a:solidFill>
                <a:latin typeface="Cambria"/>
                <a:ea typeface="Cambria"/>
                <a:cs typeface="Cambria"/>
              </a:defRPr>
            </a:defPPr>
          </a:lstStyle>
          <a:p>
            <a:pPr algn="l">
              <a:defRPr sz="2325" b="1">
                <a:solidFill>
                  <a:srgbClr val="26231D"/>
                </a:solidFill>
                <a:latin typeface="Cambria"/>
                <a:ea typeface="Cambria"/>
                <a:cs typeface="Cambria"/>
              </a:defRPr>
            </a:pPr>
            <a:r>
              <a:rPr sz="2325" b="1">
                <a:solidFill>
                  <a:srgbClr val="26231D"/>
                </a:solidFill>
                <a:latin typeface="Cambria"/>
                <a:ea typeface="Cambria"/>
                <a:cs typeface="Cambria"/>
              </a:rPr>
              <a:t>Syngenta next step</a:t>
            </a:r>
          </a:p>
        </p:txBody>
      </p:sp>
      <p:sp>
        <p:nvSpPr>
          <p:cNvPr id="7" name="stakeholder-copy">
            <a:extLst>
              <a:ext uri="{FF2B5EF4-FFF2-40B4-BE49-F238E27FC236}">
                <a16:creationId xmlns:a16="http://schemas.microsoft.com/office/drawing/2014/main" id="{587B2FCE-4D8B-4E0F-8A6B-41072E85E160}"/>
              </a:ext>
            </a:extLst>
          </p:cNvPr>
          <p:cNvSpPr>
            <a:spLocks noGrp="1"/>
          </p:cNvSpPr>
          <p:nvPr/>
        </p:nvSpPr>
        <p:spPr>
          <a:xfrm>
            <a:off x="6896100" y="2762250"/>
            <a:ext cx="4686300" cy="1162050"/>
          </a:xfrm>
          <a:prstGeom prst="rect">
            <a:avLst/>
          </a:prstGeom>
          <a:noFill/>
          <a:ln w="0">
            <a:noFill/>
          </a:ln>
        </p:spPr>
        <p:txBody>
          <a:bodyPr wrap="square" lIns="0" tIns="0" rIns="0" bIns="0" anchor="t">
            <a:noAutofit/>
          </a:bodyPr>
          <a:lstStyle>
            <a:defPPr algn="l">
              <a:defRPr sz="1950" b="0">
                <a:solidFill>
                  <a:srgbClr val="26231D"/>
                </a:solidFill>
                <a:latin typeface="Segoe UI"/>
                <a:ea typeface="Segoe UI"/>
                <a:cs typeface="Segoe UI"/>
              </a:defRPr>
            </a:defPPr>
          </a:lstStyle>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Breeder-reviewed pilot</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Authorized crop data</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SME-approved scoring</a:t>
            </a:r>
          </a:p>
        </p:txBody>
      </p:sp>
      <p:sp>
        <p:nvSpPr>
          <p:cNvPr id="8" name="stakeholder-copy">
            <a:extLst>
              <a:ext uri="{FF2B5EF4-FFF2-40B4-BE49-F238E27FC236}">
                <a16:creationId xmlns:a16="http://schemas.microsoft.com/office/drawing/2014/main" id="{BB10D30B-D2A9-424D-8049-8A89FFE94BAB}"/>
              </a:ext>
            </a:extLst>
          </p:cNvPr>
          <p:cNvSpPr>
            <a:spLocks noGrp="1"/>
          </p:cNvSpPr>
          <p:nvPr/>
        </p:nvSpPr>
        <p:spPr>
          <a:xfrm>
            <a:off x="609600" y="4210050"/>
            <a:ext cx="5543550" cy="457200"/>
          </a:xfrm>
          <a:prstGeom prst="rect">
            <a:avLst/>
          </a:prstGeom>
          <a:noFill/>
          <a:ln w="0">
            <a:noFill/>
          </a:ln>
        </p:spPr>
        <p:txBody>
          <a:bodyPr wrap="square" lIns="0" tIns="0" rIns="0" bIns="0" anchor="t">
            <a:noAutofit/>
          </a:bodyPr>
          <a:lstStyle>
            <a:defPPr algn="l">
              <a:defRPr sz="2325" b="1">
                <a:solidFill>
                  <a:srgbClr val="26231D"/>
                </a:solidFill>
                <a:latin typeface="Cambria"/>
                <a:ea typeface="Cambria"/>
                <a:cs typeface="Cambria"/>
              </a:defRPr>
            </a:defPPr>
          </a:lstStyle>
          <a:p>
            <a:pPr algn="l">
              <a:defRPr sz="2325" b="1">
                <a:solidFill>
                  <a:srgbClr val="26231D"/>
                </a:solidFill>
                <a:latin typeface="Cambria"/>
                <a:ea typeface="Cambria"/>
                <a:cs typeface="Cambria"/>
              </a:defRPr>
            </a:pPr>
            <a:r>
              <a:rPr sz="2325" b="1">
                <a:solidFill>
                  <a:srgbClr val="26231D"/>
                </a:solidFill>
                <a:latin typeface="Cambria"/>
                <a:ea typeface="Cambria"/>
                <a:cs typeface="Cambria"/>
              </a:rPr>
              <a:t>Reuse opportunity</a:t>
            </a:r>
          </a:p>
        </p:txBody>
      </p:sp>
      <p:sp>
        <p:nvSpPr>
          <p:cNvPr id="9" name="stakeholder-copy">
            <a:extLst>
              <a:ext uri="{FF2B5EF4-FFF2-40B4-BE49-F238E27FC236}">
                <a16:creationId xmlns:a16="http://schemas.microsoft.com/office/drawing/2014/main" id="{6FFB2DCB-1BC6-48F0-AC11-169D3627AFAA}"/>
              </a:ext>
            </a:extLst>
          </p:cNvPr>
          <p:cNvSpPr>
            <a:spLocks noGrp="1"/>
          </p:cNvSpPr>
          <p:nvPr/>
        </p:nvSpPr>
        <p:spPr>
          <a:xfrm>
            <a:off x="609600" y="4781550"/>
            <a:ext cx="5543550" cy="1162050"/>
          </a:xfrm>
          <a:prstGeom prst="rect">
            <a:avLst/>
          </a:prstGeom>
          <a:noFill/>
          <a:ln w="0">
            <a:noFill/>
          </a:ln>
        </p:spPr>
        <p:txBody>
          <a:bodyPr wrap="square" lIns="0" tIns="0" rIns="0" bIns="0" anchor="t">
            <a:noAutofit/>
          </a:bodyPr>
          <a:lstStyle>
            <a:defPPr algn="l">
              <a:defRPr sz="1950" b="0">
                <a:solidFill>
                  <a:srgbClr val="26231D"/>
                </a:solidFill>
                <a:latin typeface="Segoe UI"/>
                <a:ea typeface="Segoe UI"/>
                <a:cs typeface="Segoe UI"/>
              </a:defRPr>
            </a:defPPr>
          </a:lstStyle>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Deterministic assessments</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Cited AI explanations</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Explicit human decisions</a:t>
            </a:r>
          </a:p>
        </p:txBody>
      </p:sp>
      <p:sp>
        <p:nvSpPr>
          <p:cNvPr id="10" name="stakeholder-copy">
            <a:extLst>
              <a:ext uri="{FF2B5EF4-FFF2-40B4-BE49-F238E27FC236}">
                <a16:creationId xmlns:a16="http://schemas.microsoft.com/office/drawing/2014/main" id="{69A88C57-9E15-4E8F-A7C4-B693B3F31B49}"/>
              </a:ext>
            </a:extLst>
          </p:cNvPr>
          <p:cNvSpPr>
            <a:spLocks noGrp="1"/>
          </p:cNvSpPr>
          <p:nvPr/>
        </p:nvSpPr>
        <p:spPr>
          <a:xfrm>
            <a:off x="6896100" y="4210050"/>
            <a:ext cx="4686300" cy="457200"/>
          </a:xfrm>
          <a:prstGeom prst="rect">
            <a:avLst/>
          </a:prstGeom>
          <a:noFill/>
          <a:ln w="0">
            <a:noFill/>
          </a:ln>
        </p:spPr>
        <p:txBody>
          <a:bodyPr wrap="square" lIns="0" tIns="0" rIns="0" bIns="0" anchor="t">
            <a:noAutofit/>
          </a:bodyPr>
          <a:lstStyle>
            <a:defPPr algn="l">
              <a:defRPr sz="2325" b="1">
                <a:solidFill>
                  <a:srgbClr val="26231D"/>
                </a:solidFill>
                <a:latin typeface="Cambria"/>
                <a:ea typeface="Cambria"/>
                <a:cs typeface="Cambria"/>
              </a:defRPr>
            </a:defPPr>
          </a:lstStyle>
          <a:p>
            <a:pPr algn="l">
              <a:defRPr sz="2325" b="1">
                <a:solidFill>
                  <a:srgbClr val="26231D"/>
                </a:solidFill>
                <a:latin typeface="Cambria"/>
                <a:ea typeface="Cambria"/>
                <a:cs typeface="Cambria"/>
              </a:defRPr>
            </a:pPr>
            <a:r>
              <a:rPr sz="2325" b="1">
                <a:solidFill>
                  <a:srgbClr val="26231D"/>
                </a:solidFill>
                <a:latin typeface="Cambria"/>
                <a:ea typeface="Cambria"/>
                <a:cs typeface="Cambria"/>
              </a:rPr>
              <a:t>Scaling needs</a:t>
            </a:r>
          </a:p>
        </p:txBody>
      </p:sp>
      <p:sp>
        <p:nvSpPr>
          <p:cNvPr id="11" name="stakeholder-copy">
            <a:extLst>
              <a:ext uri="{FF2B5EF4-FFF2-40B4-BE49-F238E27FC236}">
                <a16:creationId xmlns:a16="http://schemas.microsoft.com/office/drawing/2014/main" id="{10340484-5763-4054-A28F-15A3102D19CC}"/>
              </a:ext>
            </a:extLst>
          </p:cNvPr>
          <p:cNvSpPr>
            <a:spLocks noGrp="1"/>
          </p:cNvSpPr>
          <p:nvPr/>
        </p:nvSpPr>
        <p:spPr>
          <a:xfrm>
            <a:off x="6896100" y="4781550"/>
            <a:ext cx="4686300" cy="1162050"/>
          </a:xfrm>
          <a:prstGeom prst="rect">
            <a:avLst/>
          </a:prstGeom>
          <a:noFill/>
          <a:ln w="0">
            <a:noFill/>
          </a:ln>
        </p:spPr>
        <p:txBody>
          <a:bodyPr wrap="square" lIns="0" tIns="0" rIns="0" bIns="0" anchor="t">
            <a:noAutofit/>
          </a:bodyPr>
          <a:lstStyle>
            <a:defPPr algn="l">
              <a:defRPr sz="1950" b="0">
                <a:solidFill>
                  <a:srgbClr val="26231D"/>
                </a:solidFill>
                <a:latin typeface="Segoe UI"/>
                <a:ea typeface="Segoe UI"/>
                <a:cs typeface="Segoe UI"/>
              </a:defRPr>
            </a:defPPr>
          </a:lstStyle>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Validated policies</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Identity and permissions</a:t>
            </a:r>
          </a:p>
          <a:p>
            <a:pPr algn="l">
              <a:defRPr sz="1950" b="0">
                <a:solidFill>
                  <a:srgbClr val="26231D"/>
                </a:solidFill>
                <a:latin typeface="Segoe UI"/>
                <a:ea typeface="Segoe UI"/>
                <a:cs typeface="Segoe UI"/>
              </a:defRPr>
            </a:pPr>
            <a:r>
              <a:rPr sz="1950" b="0">
                <a:solidFill>
                  <a:srgbClr val="26231D"/>
                </a:solidFill>
                <a:latin typeface="Segoe UI"/>
                <a:ea typeface="Segoe UI"/>
                <a:cs typeface="Segoe UI"/>
              </a:rPr>
              <a:t>Data integration · Reliable model access</a:t>
            </a:r>
          </a:p>
        </p:txBody>
      </p:sp>
      <p:sp>
        <p:nvSpPr>
          <p:cNvPr id="12" name="stakeholder-copy">
            <a:extLst>
              <a:ext uri="{FF2B5EF4-FFF2-40B4-BE49-F238E27FC236}">
                <a16:creationId xmlns:a16="http://schemas.microsoft.com/office/drawing/2014/main" id="{2FE641F1-6BC2-4810-8DD7-CCEDBD97D972}"/>
              </a:ext>
            </a:extLst>
          </p:cNvPr>
          <p:cNvSpPr>
            <a:spLocks noGrp="1"/>
          </p:cNvSpPr>
          <p:nvPr/>
        </p:nvSpPr>
        <p:spPr>
          <a:xfrm>
            <a:off x="609600" y="6086475"/>
            <a:ext cx="10972800" cy="304800"/>
          </a:xfrm>
          <a:prstGeom prst="rect">
            <a:avLst/>
          </a:prstGeom>
          <a:noFill/>
          <a:ln w="0">
            <a:noFill/>
          </a:ln>
        </p:spPr>
        <p:txBody>
          <a:bodyPr wrap="square" lIns="0" tIns="0" rIns="0" bIns="0" anchor="t">
            <a:noAutofit/>
          </a:bodyPr>
          <a:lstStyle>
            <a:defPPr algn="l">
              <a:defRPr sz="1575" b="0">
                <a:solidFill>
                  <a:srgbClr val="7A7466"/>
                </a:solidFill>
                <a:latin typeface="Segoe UI"/>
                <a:ea typeface="Segoe UI"/>
                <a:cs typeface="Segoe UI"/>
              </a:defRPr>
            </a:defPPr>
          </a:lstStyle>
          <a:p>
            <a:pPr algn="l">
              <a:defRPr sz="1575" b="0">
                <a:solidFill>
                  <a:srgbClr val="7A7466"/>
                </a:solidFill>
                <a:latin typeface="Segoe UI"/>
                <a:ea typeface="Segoe UI"/>
                <a:cs typeface="Segoe UI"/>
              </a:defRPr>
            </a:pPr>
            <a:r>
              <a:rPr sz="1575" b="0">
                <a:solidFill>
                  <a:srgbClr val="7A7466"/>
                </a:solidFill>
                <a:latin typeface="Segoe UI"/>
                <a:ea typeface="Segoe UI"/>
                <a:cs typeface="Segoe UI"/>
              </a:rPr>
              <a:t>Pilot measures review time and decision quality. Benefits remain unmeasured.</a:t>
            </a:r>
          </a:p>
        </p:txBody>
      </p:sp>
    </p:spTree>
    <p:extLst>
      <p:ext uri="{BB962C8B-B14F-4D97-AF65-F5344CB8AC3E}">
        <p14:creationId xmlns:p14="http://schemas.microsoft.com/office/powerpoint/2010/main" val="198531142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ed006307-e4a9-430f-af16-eea280431306}" enabled="1" method="Standard" siteId="{06219a4a-a835-44d5-afaf-3926343bfb89}" removed="0"/>
</clbl:labelList>
</file>

<file path=docProps/app.xml><?xml version="1.0" encoding="utf-8"?>
<Properties xmlns="http://schemas.openxmlformats.org/officeDocument/2006/extended-properties" xmlns:vt="http://schemas.openxmlformats.org/officeDocument/2006/docPropsVTypes">
  <TotalTime>0</TotalTime>
  <Words>2796</Words>
  <Application>Microsoft Office PowerPoint</Application>
  <DocSecurity>0</DocSecurity>
  <PresentationFormat>Widescreen</PresentationFormat>
  <Paragraphs>185</Paragraphs>
  <Slides>5</Slides>
  <Notes>5</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Diego Gomes Carlos BRSP</cp:lastModifiedBy>
  <cp:revision>2</cp:revision>
  <dcterms:created xsi:type="dcterms:W3CDTF">2026-10-02T19:33:15Z</dcterms:created>
  <dcterms:modified xsi:type="dcterms:W3CDTF">2026-10-02T23:59:56Z</dcterms:modified>
</cp:coreProperties>
</file>